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Metadata/LabelInfo.xml" ContentType="application/vnd.ms-office.classificationlabel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79" r:id="rId3"/>
    <p:sldId id="287" r:id="rId4"/>
    <p:sldId id="25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71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7" r:id="rId25"/>
    <p:sldId id="308" r:id="rId26"/>
    <p:sldId id="306" r:id="rId27"/>
    <p:sldId id="309" r:id="rId28"/>
    <p:sldId id="310" r:id="rId29"/>
    <p:sldId id="311" r:id="rId30"/>
    <p:sldId id="312" r:id="rId31"/>
    <p:sldId id="313" r:id="rId3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707F0-2140-4E4D-95FA-F0ED3239A0FD}" v="25" dt="2025-10-14T02:04:34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83"/>
    <p:restoredTop sz="94789"/>
  </p:normalViewPr>
  <p:slideViewPr>
    <p:cSldViewPr snapToGrid="0" showGuides="1">
      <p:cViewPr>
        <p:scale>
          <a:sx n="83" d="100"/>
          <a:sy n="83" d="100"/>
        </p:scale>
        <p:origin x="144" y="82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9A130-F3D0-CD47-B241-AE1941E0B9B3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66A1D-A45E-2842-B29C-6F28B599D6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574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83B71E-430F-55C2-A11F-64E37076F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E589FD-8A6D-0398-78CA-06F0FD5E1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7FEF7E-7BE0-99C6-B27F-E0E48C384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6161FED8-555B-AE4A-8575-C375E69FA1C8}" type="datetimeFigureOut">
              <a:rPr lang="ja-JP" altLang="en-US" smtClean="0"/>
              <a:pPr/>
              <a:t>2025/10/14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FDFDE9-7D80-FB05-1997-F97281BC5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EDAC8A-9158-E9C2-96B5-784B745A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E081CC53-311A-C34B-9AC1-8FB7B484F70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6534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CABD03-DEFC-7A68-8723-94EAAA3C8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FBAC89-F82D-2F3B-C3EF-727F3DF85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3A397B-AFC1-067C-C67E-FE09A98DE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4CD302-7BAC-7FE4-3248-68EBAC3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CB32BC-EC1F-66D3-851B-254E1AA5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682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CD9E1D-28D3-B6DF-F237-3A623D88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57C3B3-5692-32D1-05CD-CF4DDD615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597E95-9428-6AC3-949E-0FD866CC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4DC103-1DDA-CAD3-558B-90462EDA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51DA14-D8F2-37E4-B782-52C300D6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54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7D792A-A2AA-2AD7-C858-CE4677D0A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5F6494-628C-5466-F1E3-26B3FB30F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3AF5D5-E1E3-8F7C-01ED-745DDE25A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B69D20-383B-41EC-90AC-B63D91635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CB3AF0-6B34-6B8D-CC77-E9DAB8DBE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A6FC27-F82A-9722-C512-0001F689A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27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93360D-94F7-05C9-65FB-F3321DFD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4933C8-F797-5373-52E2-98A8D2652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E9D2E6A-2072-BBED-6DA1-7184EB944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5124AE9-5701-EC0B-6676-92357A153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7FDDB9B-37B1-20D4-1486-6B1CF079D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BFF3BF5-2144-FA0E-4551-DC676902B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3DAC916-5721-A7E5-DB71-3FB0A6DD5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E839736-3F47-3204-4683-B81A70F92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537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387602-E415-E693-09C8-D28F77F6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821EE21-AD96-E15B-A88A-504B3336D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AC1A86B-07DF-3877-7DB2-3228D0AC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13932A5-F467-1D38-0787-9F2863C4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063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F44080-EB6F-3222-C144-F1416FB0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C7737A-CEEF-633F-23F0-58114B959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8BFC9B-1F42-188C-92C0-D39F4EB01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935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C41F8-07FC-54C1-653F-49AB7A2E1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EEA622-457A-567C-89A0-D13525165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41D628-B7F9-E946-2E2A-18582FA4A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172749-13C7-BCEF-9FCA-890FB24A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BDE98E-7589-4F59-8DF3-97921837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50DCCD-9004-346A-2E8D-38FF1065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68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04533A-DBDF-C4DA-60EE-B82804401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76AE9B6-E6F5-27AE-E3C3-5D5DB9B0C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6B92FB-9E6E-73D4-EBBB-947A05FAD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617C33-3598-9C65-C245-562E34737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76053D-E650-DF3B-5B49-2FFE43FD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3B30AC-8736-10B4-843A-770E7677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681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FAAD98-8075-B0CB-D7EE-76CE5B5A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349BA63-8523-FE9C-8891-6BF389C82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B0ED54-CAC5-1CA4-09C2-8CF2F80A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EAE27B-23DC-46C0-8026-95C7C811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62EDE1-94CA-7121-AD94-C79643D4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0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3203A59-D8EE-EDD3-4952-B748DE2F72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5CEB42-51BD-DFFA-A184-7668D8F16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62EB47-B2DB-04DD-3510-7D08C3C41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89E637-E6CF-D668-EEB9-1BD669225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AF5524-C774-CD62-169C-B680968C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45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87C782B-9E09-D1C1-4A96-3FFA76DC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14E93D-C796-D0F8-F1D8-6009B68AC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7CC3BC-B227-D7B5-31C1-F4323591B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6161FED8-555B-AE4A-8575-C375E69FA1C8}" type="datetimeFigureOut">
              <a:rPr lang="ja-JP" altLang="en-US" smtClean="0"/>
              <a:pPr/>
              <a:t>2025/10/14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C46B96-3348-86E3-00CA-FECF7441D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108CB9-959A-6ECB-9D41-4661BB025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E081CC53-311A-C34B-9AC1-8FB7B484F70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9672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i="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b="0" i="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0" i="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0" i="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4E40A-9F89-0705-3522-D13B9D16C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9809"/>
            <a:ext cx="9144000" cy="2650154"/>
          </a:xfrm>
        </p:spPr>
        <p:txBody>
          <a:bodyPr>
            <a:normAutofit/>
          </a:bodyPr>
          <a:lstStyle/>
          <a:p>
            <a:r>
              <a:rPr kumimoji="1" lang="ja-JP" altLang="en-US" sz="4800"/>
              <a:t>大規模言語モデルの体験</a:t>
            </a:r>
            <a:br>
              <a:rPr kumimoji="1" lang="en-US" altLang="ja-JP" sz="4800" dirty="0"/>
            </a:br>
            <a:br>
              <a:rPr kumimoji="1" lang="en-US" altLang="ja-JP" dirty="0"/>
            </a:br>
            <a:r>
              <a:rPr kumimoji="1" lang="ja-JP" altLang="en-US"/>
              <a:t>第</a:t>
            </a:r>
            <a:r>
              <a:rPr kumimoji="1" lang="en-US" altLang="ja-JP" dirty="0"/>
              <a:t>2</a:t>
            </a:r>
            <a:r>
              <a:rPr kumimoji="1" lang="ja-JP" altLang="en-US"/>
              <a:t>回</a:t>
            </a:r>
            <a:r>
              <a:rPr kumimoji="1" lang="en-US" altLang="ja-JP" dirty="0"/>
              <a:t>RAG</a:t>
            </a:r>
            <a:r>
              <a:rPr kumimoji="1" lang="ja-JP" altLang="en-US"/>
              <a:t>システム構築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8BBAEB4-BED8-3CB5-BB24-179F4D428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0806"/>
            <a:ext cx="9144000" cy="1767384"/>
          </a:xfrm>
        </p:spPr>
        <p:txBody>
          <a:bodyPr/>
          <a:lstStyle/>
          <a:p>
            <a:r>
              <a:rPr lang="ja-JP" altLang="en-US" b="1"/>
              <a:t>日時</a:t>
            </a:r>
            <a:r>
              <a:rPr lang="en-US" altLang="ja-JP" dirty="0"/>
              <a:t>: 2025/10/14</a:t>
            </a:r>
            <a:br>
              <a:rPr lang="en-US" altLang="ja-JP" dirty="0"/>
            </a:br>
            <a:r>
              <a:rPr lang="ja-JP" altLang="en-US" b="1"/>
              <a:t>場所</a:t>
            </a:r>
            <a:r>
              <a:rPr lang="en-US" altLang="ja-JP" dirty="0"/>
              <a:t>:</a:t>
            </a:r>
            <a:r>
              <a:rPr lang="ja-JP" altLang="en-US"/>
              <a:t>専攻科講義室</a:t>
            </a:r>
            <a:r>
              <a:rPr lang="en-US" altLang="ja-JP" dirty="0"/>
              <a:t>1</a:t>
            </a:r>
            <a:br>
              <a:rPr lang="en-US" altLang="ja-JP" dirty="0"/>
            </a:br>
            <a:r>
              <a:rPr lang="ja-JP" altLang="en-US" b="1"/>
              <a:t>授業時間</a:t>
            </a:r>
            <a:r>
              <a:rPr lang="en-US" altLang="ja-JP" dirty="0"/>
              <a:t>: 180</a:t>
            </a:r>
            <a:r>
              <a:rPr lang="ja-JP" altLang="en-US"/>
              <a:t>分</a:t>
            </a:r>
            <a:br>
              <a:rPr lang="ja-JP" altLang="en-US"/>
            </a:br>
            <a:r>
              <a:rPr lang="ja-JP" altLang="en-US" b="1"/>
              <a:t>担当教員</a:t>
            </a:r>
            <a:r>
              <a:rPr lang="en-US" altLang="ja-JP" dirty="0"/>
              <a:t>: </a:t>
            </a:r>
            <a:r>
              <a:rPr lang="ja-JP" altLang="en-US"/>
              <a:t>森田海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3364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73899B1-62EC-D5DC-F2EB-9511B15E7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14" y="116747"/>
            <a:ext cx="11404069" cy="674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25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9628-EDC0-729A-19BE-ADEC74346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2E175A2-DB74-AB39-1D78-5B6E98878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05" y="42534"/>
            <a:ext cx="10987790" cy="677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9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9E6F51-8945-ECDC-479C-65B3BF7C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BDA93D-C5D7-2575-67DF-34325A77A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744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ja-JP" b="1" dirty="0"/>
              <a:t>RAG</a:t>
            </a:r>
            <a:r>
              <a:rPr lang="ja-JP" altLang="en-US"/>
              <a:t>の仕組みと必要性を理解する 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b="1"/>
              <a:t>ベクトル検索</a:t>
            </a:r>
            <a:r>
              <a:rPr lang="ja-JP" altLang="en-US"/>
              <a:t>の原理を実装で体験する 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b="1"/>
              <a:t>セマンティック検索システム</a:t>
            </a:r>
            <a:r>
              <a:rPr lang="ja-JP" altLang="en-US"/>
              <a:t>を構築する 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b="1"/>
              <a:t>完全な</a:t>
            </a:r>
            <a:r>
              <a:rPr lang="en-US" altLang="ja-JP" b="1" dirty="0"/>
              <a:t>RAG</a:t>
            </a:r>
            <a:r>
              <a:rPr lang="ja-JP" altLang="en-US" b="1"/>
              <a:t>システム</a:t>
            </a:r>
            <a:r>
              <a:rPr lang="ja-JP" altLang="en-US"/>
              <a:t>を完成させる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kumimoji="1" lang="en-US" altLang="ja-JP" b="1" dirty="0"/>
          </a:p>
          <a:p>
            <a:pPr marL="0" indent="0">
              <a:buNone/>
            </a:pPr>
            <a:endParaRPr lang="en-US" altLang="ja-JP" b="1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7D3DD55-6F6A-9197-D3B8-08545CEA9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3983030"/>
            <a:ext cx="77470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7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85040-F3B4-EF22-5E21-12D73E08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前回の復習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459C87-646E-6487-9766-CF6071BA7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0852"/>
          </a:xfrm>
        </p:spPr>
        <p:txBody>
          <a:bodyPr>
            <a:normAutofit/>
          </a:bodyPr>
          <a:lstStyle/>
          <a:p>
            <a:r>
              <a:rPr lang="ja-JP" altLang="en-US" b="1"/>
              <a:t>第</a:t>
            </a:r>
            <a:r>
              <a:rPr lang="en-US" altLang="ja-JP" b="1" dirty="0"/>
              <a:t>1</a:t>
            </a:r>
            <a:r>
              <a:rPr lang="ja-JP" altLang="en-US" b="1"/>
              <a:t>回で学んだこと</a:t>
            </a:r>
            <a:r>
              <a:rPr lang="en-US" altLang="ja-JP" dirty="0"/>
              <a:t>:</a:t>
            </a:r>
          </a:p>
          <a:p>
            <a:pPr lvl="1"/>
            <a:r>
              <a:rPr lang="en-US" altLang="ja-JP" dirty="0"/>
              <a:t>LLM</a:t>
            </a:r>
            <a:r>
              <a:rPr lang="ja-JP" altLang="en-US"/>
              <a:t>（大規模言語モデル）の基本</a:t>
            </a:r>
          </a:p>
          <a:p>
            <a:pPr lvl="1"/>
            <a:r>
              <a:rPr lang="en-US" altLang="ja-JP" dirty="0"/>
              <a:t>Transformer</a:t>
            </a:r>
            <a:r>
              <a:rPr lang="ja-JP" altLang="en-US"/>
              <a:t>・注意機構</a:t>
            </a:r>
          </a:p>
          <a:p>
            <a:pPr lvl="1"/>
            <a:r>
              <a:rPr lang="ja-JP" altLang="en-US"/>
              <a:t>チャットアプリの実装</a:t>
            </a:r>
          </a:p>
          <a:p>
            <a:pPr lvl="1"/>
            <a:r>
              <a:rPr lang="ja-JP" altLang="en-US"/>
              <a:t>教育用</a:t>
            </a:r>
            <a:r>
              <a:rPr lang="en-US" altLang="ja-JP" dirty="0"/>
              <a:t>API</a:t>
            </a:r>
            <a:r>
              <a:rPr lang="ja-JP" altLang="en-US"/>
              <a:t>の使い方</a:t>
            </a:r>
            <a:endParaRPr lang="en-US" altLang="ja-JP" dirty="0"/>
          </a:p>
          <a:p>
            <a:pPr lvl="1"/>
            <a:endParaRPr lang="ja-JP" altLang="en-US"/>
          </a:p>
          <a:p>
            <a:r>
              <a:rPr lang="ja-JP" altLang="en-US" b="1"/>
              <a:t>第</a:t>
            </a:r>
            <a:r>
              <a:rPr lang="en-US" altLang="ja-JP" b="1" dirty="0"/>
              <a:t>1</a:t>
            </a:r>
            <a:r>
              <a:rPr lang="ja-JP" altLang="en-US" b="1"/>
              <a:t>回で準備したもの</a:t>
            </a:r>
            <a:r>
              <a:rPr lang="en-US" altLang="ja-JP" dirty="0"/>
              <a:t>:</a:t>
            </a:r>
          </a:p>
          <a:p>
            <a:pPr lvl="1"/>
            <a:r>
              <a:rPr lang="en-US" altLang="ja-JP" dirty="0"/>
              <a:t>GitHub</a:t>
            </a:r>
            <a:r>
              <a:rPr lang="ja-JP" altLang="en-US"/>
              <a:t>テンプレートをフォーク</a:t>
            </a:r>
          </a:p>
          <a:p>
            <a:pPr lvl="1"/>
            <a:r>
              <a:rPr lang="en-US" altLang="ja-JP" dirty="0" err="1"/>
              <a:t>config.js</a:t>
            </a:r>
            <a:r>
              <a:rPr lang="en-US" altLang="ja-JP" dirty="0"/>
              <a:t> </a:t>
            </a:r>
            <a:r>
              <a:rPr lang="ja-JP" altLang="en-US"/>
              <a:t>で </a:t>
            </a:r>
            <a:r>
              <a:rPr lang="en-US" altLang="ja-JP" dirty="0"/>
              <a:t>API</a:t>
            </a:r>
            <a:r>
              <a:rPr lang="ja-JP" altLang="en-US"/>
              <a:t>設定完了</a:t>
            </a:r>
          </a:p>
          <a:p>
            <a:pPr lvl="1"/>
            <a:r>
              <a:rPr lang="ja-JP" altLang="en-US"/>
              <a:t>動作するチャットアプリ</a:t>
            </a:r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36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642203-BDD6-FFFF-3CFB-545838C0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LLM</a:t>
            </a:r>
            <a:r>
              <a:rPr lang="ja-JP" altLang="en-US"/>
              <a:t>の限界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31332B-38AD-59DB-436A-E041604CF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ja-JP" altLang="en-US" b="1"/>
              <a:t>実験</a:t>
            </a:r>
            <a:r>
              <a:rPr lang="en-US" altLang="ja-JP" dirty="0"/>
              <a:t>: </a:t>
            </a:r>
            <a:r>
              <a:rPr lang="ja-JP" altLang="en-US"/>
              <a:t>以下の質問をチャットアプリに入力してみましょう</a:t>
            </a:r>
            <a:endParaRPr lang="en-US" altLang="ja-JP" dirty="0"/>
          </a:p>
          <a:p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1. </a:t>
            </a:r>
            <a:r>
              <a:rPr kumimoji="1" lang="ja-JP" altLang="en-US"/>
              <a:t>「</a:t>
            </a:r>
            <a:r>
              <a:rPr kumimoji="1" lang="en-US" altLang="ja-JP" dirty="0"/>
              <a:t>2024</a:t>
            </a:r>
            <a:r>
              <a:rPr kumimoji="1" lang="ja-JP" altLang="en-US"/>
              <a:t>年のノーベル物理学賞受賞者は誰？」</a:t>
            </a:r>
          </a:p>
          <a:p>
            <a:pPr marL="0" indent="0">
              <a:buNone/>
            </a:pPr>
            <a:r>
              <a:rPr kumimoji="1" lang="en-US" altLang="ja-JP" dirty="0"/>
              <a:t>2. </a:t>
            </a:r>
            <a:r>
              <a:rPr kumimoji="1" lang="ja-JP" altLang="en-US"/>
              <a:t>「私たちの学校の図書館の開館時間は？」</a:t>
            </a:r>
          </a:p>
          <a:p>
            <a:pPr marL="0" indent="0">
              <a:buNone/>
            </a:pPr>
            <a:r>
              <a:rPr kumimoji="1" lang="en-US" altLang="ja-JP" dirty="0"/>
              <a:t>3. </a:t>
            </a:r>
            <a:r>
              <a:rPr kumimoji="1" lang="ja-JP" altLang="en-US"/>
              <a:t>「この授業の成績評価方法は？」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結果は？</a:t>
            </a:r>
          </a:p>
        </p:txBody>
      </p:sp>
    </p:spTree>
    <p:extLst>
      <p:ext uri="{BB962C8B-B14F-4D97-AF65-F5344CB8AC3E}">
        <p14:creationId xmlns:p14="http://schemas.microsoft.com/office/powerpoint/2010/main" val="3431305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7982BF-74E9-8903-43F2-E5B32EA75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なぜ答えられないのか？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BE454B-AC95-CCF1-DBD4-E66ED0FC8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b="1" dirty="0"/>
              <a:t>3</a:t>
            </a:r>
            <a:r>
              <a:rPr lang="ja-JP" altLang="en-US" b="1"/>
              <a:t>つの問題</a:t>
            </a:r>
            <a:r>
              <a:rPr lang="en-US" altLang="ja-JP" dirty="0"/>
              <a:t>:</a:t>
            </a:r>
          </a:p>
          <a:p>
            <a:pPr marL="0" indent="0">
              <a:buNone/>
            </a:pPr>
            <a:endParaRPr lang="en-US" altLang="ja-JP" dirty="0"/>
          </a:p>
          <a:p>
            <a:pPr>
              <a:buFont typeface="+mj-lt"/>
              <a:buAutoNum type="arabicPeriod"/>
            </a:pPr>
            <a:r>
              <a:rPr lang="ja-JP" altLang="en-US" b="1"/>
              <a:t>知識カットオフ</a:t>
            </a:r>
            <a:r>
              <a:rPr lang="ja-JP" altLang="en-US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/>
              <a:t>訓練データの時点までしか知らない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ja-JP" dirty="0"/>
              <a:t>2024</a:t>
            </a:r>
            <a:r>
              <a:rPr lang="ja-JP" altLang="en-US"/>
              <a:t>年の出来事は知らない</a:t>
            </a:r>
            <a:endParaRPr lang="en-US" altLang="ja-JP" dirty="0"/>
          </a:p>
          <a:p>
            <a:pPr marL="742950" lvl="1" indent="-285750">
              <a:buFont typeface="+mj-lt"/>
              <a:buAutoNum type="arabicPeriod"/>
            </a:pPr>
            <a:endParaRPr lang="ja-JP" altLang="en-US"/>
          </a:p>
          <a:p>
            <a:pPr>
              <a:buFont typeface="+mj-lt"/>
              <a:buAutoNum type="arabicPeriod"/>
            </a:pPr>
            <a:r>
              <a:rPr lang="ja-JP" altLang="en-US" b="1"/>
              <a:t>専門知識の不足</a:t>
            </a:r>
            <a:r>
              <a:rPr lang="ja-JP" altLang="en-US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/>
              <a:t>特定の学校や組織の情報は持っていない</a:t>
            </a:r>
            <a:endParaRPr lang="en-US" altLang="ja-JP" dirty="0"/>
          </a:p>
          <a:p>
            <a:pPr marL="742950" lvl="1" indent="-285750">
              <a:buFont typeface="+mj-lt"/>
              <a:buAutoNum type="arabicPeriod"/>
            </a:pPr>
            <a:endParaRPr lang="ja-JP" altLang="en-US"/>
          </a:p>
          <a:p>
            <a:pPr>
              <a:buFont typeface="+mj-lt"/>
              <a:buAutoNum type="arabicPeriod"/>
            </a:pPr>
            <a:r>
              <a:rPr lang="ja-JP" altLang="en-US" b="1"/>
              <a:t>ハルシネーション</a:t>
            </a:r>
            <a:r>
              <a:rPr lang="ja-JP" altLang="en-US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/>
              <a:t>知らないのに「知っているふり」をする</a:t>
            </a:r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1586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5A3EBB-B2DF-1589-DECC-56E092770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RAG</a:t>
            </a:r>
            <a:r>
              <a:rPr lang="ja-JP" altLang="en-US" sz="3600"/>
              <a:t>（</a:t>
            </a:r>
            <a:r>
              <a:rPr lang="en-US" altLang="ja-JP" sz="3600" dirty="0"/>
              <a:t>Retrieval-Augmented Generation</a:t>
            </a:r>
            <a:r>
              <a:rPr lang="ja-JP" altLang="en-US" sz="3600"/>
              <a:t>）</a:t>
            </a:r>
            <a:endParaRPr kumimoji="1" lang="ja-JP" altLang="en-US" sz="36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1812E5-28D0-DF48-403B-0EF605ECC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/>
              <a:t>日本語</a:t>
            </a:r>
            <a:r>
              <a:rPr lang="en-US" altLang="ja-JP" dirty="0"/>
              <a:t>: </a:t>
            </a:r>
            <a:r>
              <a:rPr lang="ja-JP" altLang="en-US"/>
              <a:t>検索拡張生成</a:t>
            </a:r>
            <a:endParaRPr lang="en-US" altLang="ja-JP" dirty="0"/>
          </a:p>
          <a:p>
            <a:endParaRPr lang="ja-JP" altLang="en-US"/>
          </a:p>
          <a:p>
            <a:r>
              <a:rPr lang="ja-JP" altLang="en-US" b="1"/>
              <a:t>仕組み</a:t>
            </a:r>
            <a:r>
              <a:rPr lang="en-US" altLang="ja-JP" dirty="0"/>
              <a:t>:</a:t>
            </a:r>
          </a:p>
          <a:p>
            <a:pPr>
              <a:buFont typeface="+mj-lt"/>
              <a:buAutoNum type="arabicPeriod"/>
            </a:pPr>
            <a:r>
              <a:rPr lang="ja-JP" altLang="en-US" b="1"/>
              <a:t>検索</a:t>
            </a:r>
            <a:r>
              <a:rPr lang="en-US" altLang="ja-JP" dirty="0"/>
              <a:t>: </a:t>
            </a:r>
            <a:r>
              <a:rPr lang="ja-JP" altLang="en-US"/>
              <a:t>関連する文書を探す</a:t>
            </a:r>
          </a:p>
          <a:p>
            <a:pPr>
              <a:buFont typeface="+mj-lt"/>
              <a:buAutoNum type="arabicPeriod"/>
            </a:pPr>
            <a:r>
              <a:rPr lang="ja-JP" altLang="en-US" b="1"/>
              <a:t>拡張</a:t>
            </a:r>
            <a:r>
              <a:rPr lang="en-US" altLang="ja-JP" dirty="0"/>
              <a:t>: </a:t>
            </a:r>
            <a:r>
              <a:rPr lang="ja-JP" altLang="en-US"/>
              <a:t>見つけた文書をプロンプトに追加</a:t>
            </a:r>
          </a:p>
          <a:p>
            <a:pPr>
              <a:buFont typeface="+mj-lt"/>
              <a:buAutoNum type="arabicPeriod"/>
            </a:pPr>
            <a:r>
              <a:rPr lang="ja-JP" altLang="en-US" b="1"/>
              <a:t>生成</a:t>
            </a:r>
            <a:r>
              <a:rPr lang="en-US" altLang="ja-JP" dirty="0"/>
              <a:t>: </a:t>
            </a:r>
            <a:r>
              <a:rPr lang="ja-JP" altLang="en-US"/>
              <a:t>それを元に</a:t>
            </a:r>
            <a:r>
              <a:rPr lang="en-US" altLang="ja-JP" dirty="0"/>
              <a:t>LLM</a:t>
            </a:r>
            <a:r>
              <a:rPr lang="ja-JP" altLang="en-US"/>
              <a:t>が回答</a:t>
            </a:r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965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6E71D1-F0EA-5892-2284-D5F1FBB0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RAG</a:t>
            </a:r>
            <a:r>
              <a:rPr lang="ja-JP" altLang="en-US"/>
              <a:t>の利点</a:t>
            </a:r>
            <a:endParaRPr kumimoji="1" lang="ja-JP" altLang="en-US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8234A9AF-5314-DC6F-364A-A8A720610D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567771"/>
              </p:ext>
            </p:extLst>
          </p:nvPr>
        </p:nvGraphicFramePr>
        <p:xfrm>
          <a:off x="838200" y="1825625"/>
          <a:ext cx="5575126" cy="4667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563">
                  <a:extLst>
                    <a:ext uri="{9D8B030D-6E8A-4147-A177-3AD203B41FA5}">
                      <a16:colId xmlns:a16="http://schemas.microsoft.com/office/drawing/2014/main" val="3800696706"/>
                    </a:ext>
                  </a:extLst>
                </a:gridCol>
                <a:gridCol w="2787563">
                  <a:extLst>
                    <a:ext uri="{9D8B030D-6E8A-4147-A177-3AD203B41FA5}">
                      <a16:colId xmlns:a16="http://schemas.microsoft.com/office/drawing/2014/main" val="2620987148"/>
                    </a:ext>
                  </a:extLst>
                </a:gridCol>
              </a:tblGrid>
              <a:tr h="933450">
                <a:tc>
                  <a:txBody>
                    <a:bodyPr/>
                    <a:lstStyle/>
                    <a:p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従来の</a:t>
                      </a:r>
                      <a:r>
                        <a:rPr lang="en-US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RAG</a:t>
                      </a:r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システム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026988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古い情報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最新情報に対応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00934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専門知識なし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専門知識を追加可能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975828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ハルシネーション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根拠ある回答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6461145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更新困難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文書追加で簡単更新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13276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3E81241-4670-928E-B7A0-95F70D9F9744}"/>
              </a:ext>
            </a:extLst>
          </p:cNvPr>
          <p:cNvSpPr txBox="1"/>
          <p:nvPr/>
        </p:nvSpPr>
        <p:spPr>
          <a:xfrm>
            <a:off x="7002048" y="2818356"/>
            <a:ext cx="37953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企業での活用例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社内文書検索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カスタマーサポート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法律・医療相談</a:t>
            </a:r>
          </a:p>
        </p:txBody>
      </p:sp>
    </p:spTree>
    <p:extLst>
      <p:ext uri="{BB962C8B-B14F-4D97-AF65-F5344CB8AC3E}">
        <p14:creationId xmlns:p14="http://schemas.microsoft.com/office/powerpoint/2010/main" val="2821603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FAB218-2574-0199-2292-63D7BBFE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RAG</a:t>
            </a:r>
            <a:r>
              <a:rPr lang="ja-JP" altLang="en-US"/>
              <a:t>システムの構造</a:t>
            </a:r>
            <a:endParaRPr kumimoji="1" lang="ja-JP" altLang="en-US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CCBF3EA0-D096-9633-06E6-510B394D9E78}"/>
              </a:ext>
            </a:extLst>
          </p:cNvPr>
          <p:cNvSpPr/>
          <p:nvPr/>
        </p:nvSpPr>
        <p:spPr>
          <a:xfrm>
            <a:off x="2040698" y="1690688"/>
            <a:ext cx="1978069" cy="10365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文章データ</a:t>
            </a: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6982FD1E-0FFC-D190-DE95-3F9881917A8C}"/>
              </a:ext>
            </a:extLst>
          </p:cNvPr>
          <p:cNvSpPr/>
          <p:nvPr/>
        </p:nvSpPr>
        <p:spPr>
          <a:xfrm>
            <a:off x="4873667" y="1690688"/>
            <a:ext cx="1978069" cy="10365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埋め込み変換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（ベクトル化）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B499CD8A-A329-84E4-DA38-073973680697}"/>
              </a:ext>
            </a:extLst>
          </p:cNvPr>
          <p:cNvSpPr/>
          <p:nvPr/>
        </p:nvSpPr>
        <p:spPr>
          <a:xfrm>
            <a:off x="7706636" y="1690688"/>
            <a:ext cx="1978069" cy="10365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ベクトル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データベース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90C101FE-CA50-1148-8DE1-12F08E890DEC}"/>
              </a:ext>
            </a:extLst>
          </p:cNvPr>
          <p:cNvCxnSpPr>
            <a:endCxn id="5" idx="1"/>
          </p:cNvCxnSpPr>
          <p:nvPr/>
        </p:nvCxnSpPr>
        <p:spPr>
          <a:xfrm>
            <a:off x="3883069" y="2208952"/>
            <a:ext cx="990598" cy="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E4F752FE-02F1-8874-5361-219DA371E2BA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6716038" y="2208953"/>
            <a:ext cx="9905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EEB77B86-8B8A-40E7-8692-5BAF40D0DF16}"/>
              </a:ext>
            </a:extLst>
          </p:cNvPr>
          <p:cNvSpPr/>
          <p:nvPr/>
        </p:nvSpPr>
        <p:spPr>
          <a:xfrm>
            <a:off x="2040697" y="5456346"/>
            <a:ext cx="1978069" cy="103652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質問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2B194801-3774-31E7-1290-EBD49E870F39}"/>
              </a:ext>
            </a:extLst>
          </p:cNvPr>
          <p:cNvSpPr/>
          <p:nvPr/>
        </p:nvSpPr>
        <p:spPr>
          <a:xfrm>
            <a:off x="4873667" y="3748413"/>
            <a:ext cx="1978069" cy="103652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ベクトル検索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C841130E-5C66-52CC-8087-CD942E373AFE}"/>
              </a:ext>
            </a:extLst>
          </p:cNvPr>
          <p:cNvSpPr/>
          <p:nvPr/>
        </p:nvSpPr>
        <p:spPr>
          <a:xfrm>
            <a:off x="7706635" y="3748412"/>
            <a:ext cx="1978069" cy="103652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関連文書</a:t>
            </a:r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BB4846C6-CD14-D218-98F0-70AB573099E8}"/>
              </a:ext>
            </a:extLst>
          </p:cNvPr>
          <p:cNvSpPr/>
          <p:nvPr/>
        </p:nvSpPr>
        <p:spPr>
          <a:xfrm>
            <a:off x="4873666" y="5499889"/>
            <a:ext cx="1978069" cy="103652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LLM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生成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CD003E78-5850-55C7-EF9D-356D496FDD8B}"/>
              </a:ext>
            </a:extLst>
          </p:cNvPr>
          <p:cNvSpPr/>
          <p:nvPr/>
        </p:nvSpPr>
        <p:spPr>
          <a:xfrm>
            <a:off x="7706635" y="5499889"/>
            <a:ext cx="1978069" cy="103652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回答</a:t>
            </a:r>
          </a:p>
        </p:txBody>
      </p:sp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1E7D581E-6CBA-3783-4025-6DDABCBC94DE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4018766" y="4266678"/>
            <a:ext cx="854901" cy="17079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668D32B0-5A21-0A8D-DAA1-CE7052725130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6851736" y="4266677"/>
            <a:ext cx="854899" cy="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EB0801A4-C176-AD85-39CC-4E8F1858C9B3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862701" y="2727217"/>
            <a:ext cx="1" cy="102886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E2663F21-AE84-8956-7CFD-3D05A6FA175F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5862701" y="4784942"/>
            <a:ext cx="1" cy="71494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AAA8A814-1982-FE77-1578-C7B869434B43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6851735" y="6018154"/>
            <a:ext cx="85490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774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1A3EF-E3CB-829D-24A7-D0027240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ベクトル検索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503500-8E14-9ECF-0FEE-64C61F1B0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33457" cy="50323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b="1"/>
              <a:t>キーワード検索との違い</a:t>
            </a:r>
            <a:r>
              <a:rPr lang="en-US" altLang="ja-JP" dirty="0"/>
              <a:t>:</a:t>
            </a:r>
          </a:p>
          <a:p>
            <a:pPr marL="0" indent="0">
              <a:buNone/>
            </a:pPr>
            <a:r>
              <a:rPr lang="ja-JP" altLang="en-US" b="1"/>
              <a:t>従来の検索</a:t>
            </a:r>
            <a:r>
              <a:rPr lang="en-US" altLang="ja-JP" dirty="0"/>
              <a:t>:</a:t>
            </a:r>
          </a:p>
          <a:p>
            <a:pPr marL="0" indent="0">
              <a:buNone/>
            </a:pPr>
            <a:r>
              <a:rPr kumimoji="1" lang="ja-JP" altLang="en-US"/>
              <a:t>質問</a:t>
            </a:r>
            <a:r>
              <a:rPr kumimoji="1" lang="en-US" altLang="ja-JP" dirty="0"/>
              <a:t>: "</a:t>
            </a:r>
            <a:r>
              <a:rPr kumimoji="1" lang="ja-JP" altLang="en-US"/>
              <a:t>猫の飼い方</a:t>
            </a:r>
            <a:r>
              <a:rPr kumimoji="1" lang="en-US" altLang="ja-JP" dirty="0"/>
              <a:t>"</a:t>
            </a:r>
          </a:p>
          <a:p>
            <a:pPr marL="0" indent="0">
              <a:buNone/>
            </a:pPr>
            <a:r>
              <a:rPr kumimoji="1" lang="ja-JP" altLang="en-US"/>
              <a:t>検索</a:t>
            </a:r>
            <a:r>
              <a:rPr kumimoji="1" lang="en-US" altLang="ja-JP" dirty="0"/>
              <a:t>: "</a:t>
            </a:r>
            <a:r>
              <a:rPr kumimoji="1" lang="ja-JP" altLang="en-US"/>
              <a:t>猫</a:t>
            </a:r>
            <a:r>
              <a:rPr kumimoji="1" lang="en-US" altLang="ja-JP" dirty="0"/>
              <a:t>" AND "</a:t>
            </a:r>
            <a:r>
              <a:rPr kumimoji="1" lang="ja-JP" altLang="en-US"/>
              <a:t>飼い方</a:t>
            </a:r>
            <a:r>
              <a:rPr kumimoji="1" lang="en-US" altLang="ja-JP" dirty="0"/>
              <a:t>" </a:t>
            </a:r>
            <a:r>
              <a:rPr kumimoji="1" lang="ja-JP" altLang="en-US"/>
              <a:t>を含む文書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b="1"/>
              <a:t>ベクトル検索</a:t>
            </a:r>
            <a:r>
              <a:rPr lang="en-US" altLang="ja-JP" dirty="0"/>
              <a:t>:</a:t>
            </a:r>
          </a:p>
          <a:p>
            <a:pPr marL="0" indent="0">
              <a:buNone/>
            </a:pPr>
            <a:r>
              <a:rPr kumimoji="1" lang="ja-JP" altLang="en-US"/>
              <a:t>質問</a:t>
            </a:r>
            <a:r>
              <a:rPr kumimoji="1" lang="en-US" altLang="ja-JP" dirty="0"/>
              <a:t>: "</a:t>
            </a:r>
            <a:r>
              <a:rPr kumimoji="1" lang="ja-JP" altLang="en-US"/>
              <a:t>猫の飼い方</a:t>
            </a:r>
            <a:r>
              <a:rPr kumimoji="1" lang="en-US" altLang="ja-JP" dirty="0"/>
              <a:t>"</a:t>
            </a:r>
          </a:p>
          <a:p>
            <a:pPr marL="0" indent="0">
              <a:buNone/>
            </a:pPr>
            <a:r>
              <a:rPr kumimoji="1" lang="en-US" altLang="ja-JP" dirty="0"/>
              <a:t>→ </a:t>
            </a:r>
            <a:r>
              <a:rPr kumimoji="1" lang="ja-JP" altLang="en-US"/>
              <a:t>ベクトル</a:t>
            </a:r>
            <a:r>
              <a:rPr kumimoji="1" lang="en-US" altLang="ja-JP" dirty="0"/>
              <a:t>: [0.2, 0.8, 0.1, ...]</a:t>
            </a:r>
          </a:p>
          <a:p>
            <a:pPr marL="0" indent="0">
              <a:buNone/>
            </a:pPr>
            <a:r>
              <a:rPr kumimoji="1" lang="en-US" altLang="ja-JP" dirty="0"/>
              <a:t>→ </a:t>
            </a:r>
            <a:r>
              <a:rPr kumimoji="1" lang="ja-JP" altLang="en-US"/>
              <a:t>似た意味のベクトルを探す</a:t>
            </a:r>
          </a:p>
          <a:p>
            <a:pPr marL="0" indent="0">
              <a:buNone/>
            </a:pPr>
            <a:r>
              <a:rPr kumimoji="1" lang="ja-JP" altLang="en-US"/>
              <a:t>→ </a:t>
            </a:r>
            <a:r>
              <a:rPr kumimoji="1" lang="en-US" altLang="ja-JP" dirty="0"/>
              <a:t>"</a:t>
            </a:r>
            <a:r>
              <a:rPr kumimoji="1" lang="ja-JP" altLang="en-US"/>
              <a:t>ペットの育て方</a:t>
            </a:r>
            <a:r>
              <a:rPr kumimoji="1" lang="en-US" altLang="ja-JP" dirty="0"/>
              <a:t>"</a:t>
            </a:r>
            <a:r>
              <a:rPr kumimoji="1" lang="ja-JP" altLang="en-US"/>
              <a:t>も見つかる！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2B356A-74F1-BDA8-E2F4-6D1FE5F9352F}"/>
              </a:ext>
            </a:extLst>
          </p:cNvPr>
          <p:cNvSpPr txBox="1"/>
          <p:nvPr/>
        </p:nvSpPr>
        <p:spPr>
          <a:xfrm>
            <a:off x="6704600" y="5969655"/>
            <a:ext cx="5487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利点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: 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意味が似ていれば見つかる</a:t>
            </a:r>
            <a:endParaRPr kumimoji="1" lang="ja-JP" altLang="en-US" sz="28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9609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AF1214-2F31-095E-326A-1F33483B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ベクトルで文章を表現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287548-0DBB-E0BA-5774-B09F73E3C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b="1"/>
              <a:t>例</a:t>
            </a:r>
            <a:r>
              <a:rPr lang="en-US" altLang="ja-JP" dirty="0"/>
              <a:t>: </a:t>
            </a:r>
            <a:r>
              <a:rPr lang="ja-JP" altLang="en-US"/>
              <a:t>単語を数値の配列で表現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"</a:t>
            </a:r>
            <a:r>
              <a:rPr kumimoji="1" lang="ja-JP" altLang="en-US"/>
              <a:t>猫</a:t>
            </a:r>
            <a:r>
              <a:rPr kumimoji="1" lang="en-US" altLang="ja-JP" dirty="0"/>
              <a:t>"     → [0.8, 0.2, 0.1, 0.3, ...]</a:t>
            </a:r>
          </a:p>
          <a:p>
            <a:pPr marL="0" indent="0">
              <a:buNone/>
            </a:pPr>
            <a:r>
              <a:rPr kumimoji="1" lang="en-US" altLang="ja-JP" dirty="0"/>
              <a:t>"</a:t>
            </a:r>
            <a:r>
              <a:rPr kumimoji="1" lang="ja-JP" altLang="en-US"/>
              <a:t>犬</a:t>
            </a:r>
            <a:r>
              <a:rPr kumimoji="1" lang="en-US" altLang="ja-JP" dirty="0"/>
              <a:t>"     → [0.7, 0.3, 0.1, 0.2, ...]</a:t>
            </a:r>
          </a:p>
          <a:p>
            <a:pPr marL="0" indent="0">
              <a:buNone/>
            </a:pPr>
            <a:r>
              <a:rPr kumimoji="1" lang="en-US" altLang="ja-JP" dirty="0"/>
              <a:t>"</a:t>
            </a:r>
            <a:r>
              <a:rPr kumimoji="1" lang="ja-JP" altLang="en-US"/>
              <a:t>自動車</a:t>
            </a:r>
            <a:r>
              <a:rPr kumimoji="1" lang="en-US" altLang="ja-JP" dirty="0"/>
              <a:t>" → [0.1, 0.1, 0.9, 0.8, ...]</a:t>
            </a:r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b="1"/>
              <a:t>特徴</a:t>
            </a:r>
            <a:r>
              <a:rPr lang="en-US" altLang="ja-JP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似た意味 → 似たベクトル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全く違う意味 → 違うベクトル</a:t>
            </a:r>
          </a:p>
          <a:p>
            <a:r>
              <a:rPr lang="ja-JP" altLang="en-US" b="1"/>
              <a:t>次元数</a:t>
            </a:r>
            <a:r>
              <a:rPr lang="en-US" altLang="ja-JP" dirty="0"/>
              <a:t>: </a:t>
            </a:r>
            <a:r>
              <a:rPr lang="ja-JP" altLang="en-US"/>
              <a:t>通常 </a:t>
            </a:r>
            <a:r>
              <a:rPr lang="en-US" altLang="ja-JP" dirty="0"/>
              <a:t>768</a:t>
            </a:r>
            <a:r>
              <a:rPr lang="ja-JP" altLang="en-US"/>
              <a:t>次元 </a:t>
            </a:r>
            <a:r>
              <a:rPr lang="en-US" altLang="ja-JP" dirty="0"/>
              <a:t>〜 1536</a:t>
            </a:r>
            <a:r>
              <a:rPr lang="ja-JP" altLang="en-US"/>
              <a:t>次元</a:t>
            </a:r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5182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084F60-FD70-F69C-987D-EF7C8C568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類似度の計算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45EEAB-EC6E-4B22-F06B-D361BC681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/>
              <a:t>コサイン類似度</a:t>
            </a:r>
            <a:r>
              <a:rPr lang="en-US" altLang="ja-JP" dirty="0"/>
              <a:t>: </a:t>
            </a:r>
            <a:r>
              <a:rPr lang="ja-JP" altLang="en-US"/>
              <a:t>ベクトル間の角度で類似度を測る</a:t>
            </a:r>
            <a:endParaRPr lang="en-US" altLang="ja-JP" dirty="0"/>
          </a:p>
          <a:p>
            <a:r>
              <a:rPr lang="ja-JP" altLang="en-US" b="1"/>
              <a:t>値の範囲</a:t>
            </a:r>
            <a:r>
              <a:rPr lang="en-US" altLang="ja-JP" dirty="0"/>
              <a:t>:</a:t>
            </a:r>
          </a:p>
          <a:p>
            <a:pPr lvl="1"/>
            <a:r>
              <a:rPr lang="en-US" altLang="ja-JP" b="1" dirty="0"/>
              <a:t>1.0</a:t>
            </a:r>
            <a:r>
              <a:rPr lang="en-US" altLang="ja-JP" dirty="0"/>
              <a:t>: </a:t>
            </a:r>
            <a:r>
              <a:rPr lang="ja-JP" altLang="en-US"/>
              <a:t>完全に同じ方向（意味が同じ）</a:t>
            </a:r>
          </a:p>
          <a:p>
            <a:pPr lvl="1"/>
            <a:r>
              <a:rPr lang="en-US" altLang="ja-JP" b="1" dirty="0"/>
              <a:t>0.0</a:t>
            </a:r>
            <a:r>
              <a:rPr lang="en-US" altLang="ja-JP" dirty="0"/>
              <a:t>: </a:t>
            </a:r>
            <a:r>
              <a:rPr lang="ja-JP" altLang="en-US"/>
              <a:t>直交（関係なし）</a:t>
            </a:r>
          </a:p>
          <a:p>
            <a:pPr lvl="1"/>
            <a:r>
              <a:rPr lang="en-US" altLang="ja-JP" b="1" dirty="0"/>
              <a:t>-1.0</a:t>
            </a:r>
            <a:r>
              <a:rPr lang="en-US" altLang="ja-JP" dirty="0"/>
              <a:t>: </a:t>
            </a:r>
            <a:r>
              <a:rPr lang="ja-JP" altLang="en-US"/>
              <a:t>逆方向（反対の意味）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736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49DBC-92FD-E52F-75FB-9E295BE19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A0F45C-E484-6B31-74BF-6C773618D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22" y="2766218"/>
            <a:ext cx="10515600" cy="1325563"/>
          </a:xfrm>
        </p:spPr>
        <p:txBody>
          <a:bodyPr/>
          <a:lstStyle/>
          <a:p>
            <a:r>
              <a:rPr kumimoji="1" lang="ja-JP" altLang="en-US"/>
              <a:t>実装の手順書</a:t>
            </a:r>
          </a:p>
        </p:txBody>
      </p:sp>
    </p:spTree>
    <p:extLst>
      <p:ext uri="{BB962C8B-B14F-4D97-AF65-F5344CB8AC3E}">
        <p14:creationId xmlns:p14="http://schemas.microsoft.com/office/powerpoint/2010/main" val="898247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10FBA-CB08-A362-4726-1C9EB680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ベクトル検索システム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98A3DE-23DA-5B91-354D-5F4B82066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8204"/>
          </a:xfrm>
        </p:spPr>
        <p:txBody>
          <a:bodyPr/>
          <a:lstStyle/>
          <a:p>
            <a:r>
              <a:rPr lang="ja-JP" altLang="en-US" b="1"/>
              <a:t>今から作るもの</a:t>
            </a:r>
            <a:r>
              <a:rPr lang="en-US" altLang="ja-JP" dirty="0"/>
              <a:t>:</a:t>
            </a:r>
          </a:p>
          <a:p>
            <a:pPr lvl="1">
              <a:buFont typeface="+mj-lt"/>
              <a:buAutoNum type="arabicPeriod"/>
            </a:pPr>
            <a:r>
              <a:rPr lang="ja-JP" altLang="en-US"/>
              <a:t>ベクトル検索エンジン（新規）</a:t>
            </a:r>
          </a:p>
          <a:p>
            <a:pPr lvl="1">
              <a:buFont typeface="+mj-lt"/>
              <a:buAutoNum type="arabicPeriod"/>
            </a:pPr>
            <a:r>
              <a:rPr lang="en-US" altLang="ja-JP" dirty="0"/>
              <a:t>RAG</a:t>
            </a:r>
            <a:r>
              <a:rPr lang="ja-JP" altLang="en-US"/>
              <a:t>システム（新規）</a:t>
            </a:r>
          </a:p>
          <a:p>
            <a:pPr lvl="1">
              <a:buFont typeface="+mj-lt"/>
              <a:buAutoNum type="arabicPeriod"/>
            </a:pPr>
            <a:r>
              <a:rPr lang="en-US" altLang="ja-JP" dirty="0"/>
              <a:t>RAG</a:t>
            </a:r>
            <a:r>
              <a:rPr lang="ja-JP" altLang="en-US"/>
              <a:t>用</a:t>
            </a:r>
            <a:r>
              <a:rPr lang="en-US" altLang="ja-JP" dirty="0"/>
              <a:t>UI</a:t>
            </a:r>
            <a:r>
              <a:rPr lang="ja-JP" altLang="en-US"/>
              <a:t>（新規）</a:t>
            </a:r>
            <a:endParaRPr lang="en-US" altLang="ja-JP" dirty="0"/>
          </a:p>
          <a:p>
            <a:pPr lvl="1">
              <a:buFont typeface="+mj-lt"/>
              <a:buAutoNum type="arabicPeriod"/>
            </a:pPr>
            <a:endParaRPr lang="ja-JP" altLang="en-US"/>
          </a:p>
          <a:p>
            <a:r>
              <a:rPr lang="ja-JP" altLang="en-US" b="1"/>
              <a:t>第</a:t>
            </a:r>
            <a:r>
              <a:rPr lang="en-US" altLang="ja-JP" b="1" dirty="0"/>
              <a:t>1</a:t>
            </a:r>
            <a:r>
              <a:rPr lang="ja-JP" altLang="en-US" b="1"/>
              <a:t>回のコードを活用</a:t>
            </a:r>
            <a:r>
              <a:rPr lang="en-US" altLang="ja-JP" dirty="0"/>
              <a:t>:</a:t>
            </a:r>
          </a:p>
          <a:p>
            <a:pPr lvl="1"/>
            <a:r>
              <a:rPr lang="en-US" altLang="ja-JP" dirty="0" err="1"/>
              <a:t>llm-client.js</a:t>
            </a:r>
            <a:r>
              <a:rPr lang="ja-JP" altLang="en-US"/>
              <a:t>（そのまま使用）</a:t>
            </a:r>
          </a:p>
          <a:p>
            <a:pPr lvl="1"/>
            <a:r>
              <a:rPr lang="en-US" altLang="ja-JP" dirty="0" err="1"/>
              <a:t>config.js</a:t>
            </a:r>
            <a:r>
              <a:rPr lang="ja-JP" altLang="en-US"/>
              <a:t>（設定済み）</a:t>
            </a:r>
          </a:p>
          <a:p>
            <a:pPr lvl="1"/>
            <a:r>
              <a:rPr lang="en-US" altLang="ja-JP" dirty="0"/>
              <a:t>sample-</a:t>
            </a:r>
            <a:r>
              <a:rPr lang="en-US" altLang="ja-JP" dirty="0" err="1"/>
              <a:t>documents.json</a:t>
            </a:r>
            <a:r>
              <a:rPr lang="ja-JP" altLang="en-US"/>
              <a:t>（既にある）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3459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1D56EA-98A6-2289-4895-1C286B08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1: </a:t>
            </a:r>
            <a:r>
              <a:rPr lang="ja-JP" altLang="en-US"/>
              <a:t>既存ファイルの確認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03A94A-DE21-E3B1-F4B6-CF7254405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ja-JP" dirty="0" err="1"/>
              <a:t>llm</a:t>
            </a:r>
            <a:r>
              <a:rPr kumimoji="1" lang="en-US" altLang="ja-JP" dirty="0"/>
              <a:t>-rag-learning-template/</a:t>
            </a:r>
          </a:p>
          <a:p>
            <a:pPr marL="0" indent="0">
              <a:buNone/>
            </a:pPr>
            <a:r>
              <a:rPr kumimoji="1" lang="en-US" altLang="ja-JP" dirty="0"/>
              <a:t>├── </a:t>
            </a:r>
            <a:r>
              <a:rPr kumimoji="1" lang="en-US" altLang="ja-JP" dirty="0" err="1"/>
              <a:t>js</a:t>
            </a:r>
            <a:r>
              <a:rPr kumimoji="1" lang="en-US" altLang="ja-JP" dirty="0"/>
              <a:t>/</a:t>
            </a:r>
          </a:p>
          <a:p>
            <a:pPr marL="0" indent="0">
              <a:buNone/>
            </a:pPr>
            <a:r>
              <a:rPr kumimoji="1" lang="en-US" altLang="ja-JP" dirty="0"/>
              <a:t>│   ├── </a:t>
            </a:r>
            <a:r>
              <a:rPr kumimoji="1" lang="en-US" altLang="ja-JP" dirty="0" err="1"/>
              <a:t>llm-client.js</a:t>
            </a:r>
            <a:r>
              <a:rPr kumimoji="1" lang="en-US" altLang="ja-JP" dirty="0"/>
              <a:t>       </a:t>
            </a:r>
            <a:r>
              <a:rPr kumimoji="1" lang="ja-JP" altLang="en-US"/>
              <a:t>✅ 第</a:t>
            </a:r>
            <a:r>
              <a:rPr kumimoji="1" lang="en-US" altLang="ja-JP" dirty="0"/>
              <a:t>1</a:t>
            </a:r>
            <a:r>
              <a:rPr kumimoji="1" lang="ja-JP" altLang="en-US"/>
              <a:t>回で使用済み</a:t>
            </a:r>
          </a:p>
          <a:p>
            <a:pPr marL="0" indent="0">
              <a:buNone/>
            </a:pPr>
            <a:r>
              <a:rPr kumimoji="1" lang="ja-JP" altLang="en-US"/>
              <a:t>│   ├── </a:t>
            </a:r>
            <a:r>
              <a:rPr kumimoji="1" lang="en-US" altLang="ja-JP" dirty="0"/>
              <a:t>vector-</a:t>
            </a:r>
            <a:r>
              <a:rPr kumimoji="1" lang="en-US" altLang="ja-JP" dirty="0" err="1"/>
              <a:t>search.js</a:t>
            </a:r>
            <a:r>
              <a:rPr kumimoji="1" lang="en-US" altLang="ja-JP" dirty="0"/>
              <a:t>    ← </a:t>
            </a:r>
            <a:r>
              <a:rPr kumimoji="1" lang="ja-JP" altLang="en-US"/>
              <a:t>今日実装</a:t>
            </a:r>
          </a:p>
          <a:p>
            <a:pPr marL="0" indent="0">
              <a:buNone/>
            </a:pPr>
            <a:r>
              <a:rPr kumimoji="1" lang="ja-JP" altLang="en-US"/>
              <a:t>│   ├── </a:t>
            </a:r>
            <a:r>
              <a:rPr kumimoji="1" lang="en-US" altLang="ja-JP" dirty="0"/>
              <a:t>rag-</a:t>
            </a:r>
            <a:r>
              <a:rPr kumimoji="1" lang="en-US" altLang="ja-JP" dirty="0" err="1"/>
              <a:t>system.js</a:t>
            </a:r>
            <a:r>
              <a:rPr kumimoji="1" lang="en-US" altLang="ja-JP" dirty="0"/>
              <a:t>       ← </a:t>
            </a:r>
            <a:r>
              <a:rPr kumimoji="1" lang="ja-JP" altLang="en-US"/>
              <a:t>今日実装</a:t>
            </a:r>
          </a:p>
          <a:p>
            <a:pPr marL="0" indent="0">
              <a:buNone/>
            </a:pPr>
            <a:r>
              <a:rPr kumimoji="1" lang="ja-JP" altLang="en-US"/>
              <a:t>│   └── </a:t>
            </a:r>
            <a:r>
              <a:rPr kumimoji="1" lang="en-US" altLang="ja-JP" dirty="0"/>
              <a:t>app-</a:t>
            </a:r>
            <a:r>
              <a:rPr kumimoji="1" lang="en-US" altLang="ja-JP" dirty="0" err="1"/>
              <a:t>rag.js</a:t>
            </a:r>
            <a:r>
              <a:rPr kumimoji="1" lang="en-US" altLang="ja-JP" dirty="0"/>
              <a:t>          ← </a:t>
            </a:r>
            <a:r>
              <a:rPr kumimoji="1" lang="ja-JP" altLang="en-US"/>
              <a:t>今日実装</a:t>
            </a:r>
          </a:p>
          <a:p>
            <a:pPr marL="0" indent="0">
              <a:buNone/>
            </a:pPr>
            <a:r>
              <a:rPr kumimoji="1" lang="ja-JP" altLang="en-US"/>
              <a:t>├── </a:t>
            </a:r>
            <a:r>
              <a:rPr kumimoji="1" lang="en-US" altLang="ja-JP" dirty="0"/>
              <a:t>data/</a:t>
            </a:r>
          </a:p>
          <a:p>
            <a:pPr marL="0" indent="0">
              <a:buNone/>
            </a:pPr>
            <a:r>
              <a:rPr kumimoji="1" lang="en-US" altLang="ja-JP" dirty="0"/>
              <a:t>│   └── sample-</a:t>
            </a:r>
            <a:r>
              <a:rPr kumimoji="1" lang="en-US" altLang="ja-JP" dirty="0" err="1"/>
              <a:t>documents.json</a:t>
            </a:r>
            <a:r>
              <a:rPr kumimoji="1" lang="en-US" altLang="ja-JP" dirty="0"/>
              <a:t>  </a:t>
            </a:r>
            <a:r>
              <a:rPr kumimoji="1" lang="ja-JP" altLang="en-US"/>
              <a:t>✅ 既に存在（確認）</a:t>
            </a:r>
          </a:p>
          <a:p>
            <a:pPr marL="0" indent="0">
              <a:buNone/>
            </a:pPr>
            <a:r>
              <a:rPr kumimoji="1" lang="ja-JP" altLang="en-US"/>
              <a:t>└── </a:t>
            </a:r>
            <a:r>
              <a:rPr kumimoji="1" lang="en-US" altLang="ja-JP" dirty="0" err="1"/>
              <a:t>rag.html</a:t>
            </a:r>
            <a:r>
              <a:rPr kumimoji="1" lang="en-US" altLang="ja-JP" dirty="0"/>
              <a:t>                ← </a:t>
            </a:r>
            <a:r>
              <a:rPr kumimoji="1" lang="ja-JP" altLang="en-US"/>
              <a:t>今日作成</a:t>
            </a:r>
          </a:p>
        </p:txBody>
      </p:sp>
    </p:spTree>
    <p:extLst>
      <p:ext uri="{BB962C8B-B14F-4D97-AF65-F5344CB8AC3E}">
        <p14:creationId xmlns:p14="http://schemas.microsoft.com/office/powerpoint/2010/main" val="3589054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5FB833-C755-F5E5-DCE5-D00B7C68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2 - </a:t>
            </a:r>
            <a:r>
              <a:rPr lang="ja-JP" altLang="en-US"/>
              <a:t>サンプル文書確認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FF728D-84BF-2948-58E5-61D36FC8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9971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data/sample-</a:t>
            </a:r>
            <a:r>
              <a:rPr lang="en-US" altLang="ja-JP" dirty="0" err="1"/>
              <a:t>documents.json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54653B-F011-3B96-6B90-66FA81922474}"/>
              </a:ext>
            </a:extLst>
          </p:cNvPr>
          <p:cNvSpPr txBox="1"/>
          <p:nvPr/>
        </p:nvSpPr>
        <p:spPr>
          <a:xfrm>
            <a:off x="4811485" y="1690688"/>
            <a:ext cx="6990696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{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"documents": [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{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"id": "prog001",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"title": "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プログラミング基礎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",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"content": "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プログラミングとは、コンピュータに指示を与えて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...",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"subject": "programming",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"level": "beginner"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},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{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"id": "var001",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"title": "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変数の概念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",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"content": "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変数は、データを格納するための名前付きの場所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...",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"subject": "programming",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"level": "beginner"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}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...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全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5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件の文書</a:t>
            </a:r>
          </a:p>
          <a:p>
            <a:pPr algn="l"/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  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]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}</a:t>
            </a:r>
            <a:endParaRPr kumimoji="1" lang="ja-JP" altLang="en-US" sz="1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2291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183877-25E8-A067-6E57-C40C2987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870"/>
            <a:ext cx="10515600" cy="1325563"/>
          </a:xfrm>
        </p:spPr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3 - </a:t>
            </a:r>
            <a:r>
              <a:rPr lang="ja-JP" altLang="en-US"/>
              <a:t>ベクトル検索エンジン</a:t>
            </a:r>
            <a:br>
              <a:rPr lang="en-US" altLang="ja-JP" dirty="0"/>
            </a:br>
            <a:r>
              <a:rPr lang="en-US" altLang="ja-JP" dirty="0" err="1"/>
              <a:t>VectorSearchEngine</a:t>
            </a:r>
            <a:r>
              <a:rPr lang="en-US" altLang="ja-JP" dirty="0"/>
              <a:t> </a:t>
            </a:r>
            <a:r>
              <a:rPr lang="ja-JP" altLang="en-US"/>
              <a:t>クラス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754B43-2827-F143-3DBE-5A0CDD992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7457" cy="4351338"/>
          </a:xfrm>
        </p:spPr>
        <p:txBody>
          <a:bodyPr/>
          <a:lstStyle/>
          <a:p>
            <a:pPr marL="0" indent="0">
              <a:buNone/>
            </a:pPr>
            <a:r>
              <a:rPr lang="ja-JP" altLang="en-US" b="1"/>
              <a:t>新規ファイル作成</a:t>
            </a:r>
            <a:r>
              <a:rPr lang="en-US" altLang="ja-JP" dirty="0"/>
              <a:t>: </a:t>
            </a:r>
            <a:r>
              <a:rPr lang="en-US" altLang="ja-JP" dirty="0" err="1"/>
              <a:t>js</a:t>
            </a:r>
            <a:r>
              <a:rPr lang="en-US" altLang="ja-JP" dirty="0"/>
              <a:t>/vector-</a:t>
            </a:r>
            <a:r>
              <a:rPr lang="en-US" altLang="ja-JP" dirty="0" err="1"/>
              <a:t>search.js</a:t>
            </a:r>
            <a:endParaRPr lang="en-US" altLang="ja-JP" dirty="0"/>
          </a:p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EB87521-DF38-2FF3-3612-5F339B02DD14}"/>
              </a:ext>
            </a:extLst>
          </p:cNvPr>
          <p:cNvSpPr txBox="1"/>
          <p:nvPr/>
        </p:nvSpPr>
        <p:spPr>
          <a:xfrm>
            <a:off x="4615543" y="1721757"/>
            <a:ext cx="510017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//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js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/vector-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search.js</a:t>
            </a:r>
            <a:endParaRPr kumimoji="1" lang="en-US" altLang="ja-JP" sz="1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class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VectorSearchEngine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{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constructor() {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this.documents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= [];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this.embeddings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= [];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// </a:t>
            </a:r>
            <a:r>
              <a:rPr kumimoji="1" lang="ja-JP" altLang="en-US" sz="1200" b="1">
                <a:latin typeface="Meiryo" panose="020B0604030504040204" pitchFamily="34" charset="-128"/>
                <a:ea typeface="Meiryo" panose="020B0604030504040204" pitchFamily="34" charset="-128"/>
              </a:rPr>
              <a:t>第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kumimoji="1" lang="ja-JP" altLang="en-US" sz="1200" b="1">
                <a:latin typeface="Meiryo" panose="020B0604030504040204" pitchFamily="34" charset="-128"/>
                <a:ea typeface="Meiryo" panose="020B0604030504040204" pitchFamily="34" charset="-128"/>
              </a:rPr>
              <a:t>回で作成したクライアントを再利用</a:t>
            </a:r>
          </a:p>
          <a:p>
            <a:pPr algn="l"/>
            <a:r>
              <a:rPr kumimoji="1" lang="ja-JP" altLang="en-US" sz="1200" b="1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this.llm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= new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EducationLLMClient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   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API_CONFIG.studentId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//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config.js</a:t>
            </a:r>
            <a:r>
              <a:rPr kumimoji="1" lang="ja-JP" altLang="en-US" sz="1200" b="1">
                <a:latin typeface="Meiryo" panose="020B0604030504040204" pitchFamily="34" charset="-128"/>
                <a:ea typeface="Meiryo" panose="020B0604030504040204" pitchFamily="34" charset="-128"/>
              </a:rPr>
              <a:t>から取得</a:t>
            </a:r>
          </a:p>
          <a:p>
            <a:pPr algn="l"/>
            <a:r>
              <a:rPr kumimoji="1" lang="ja-JP" altLang="en-US" sz="1200" b="1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);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}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async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addDocument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(text, metadata = {}) {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//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getEmbedding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() </a:t>
            </a:r>
            <a:r>
              <a:rPr kumimoji="1" lang="ja-JP" altLang="en-US" sz="1200" b="1">
                <a:latin typeface="Meiryo" panose="020B0604030504040204" pitchFamily="34" charset="-128"/>
                <a:ea typeface="Meiryo" panose="020B0604030504040204" pitchFamily="34" charset="-128"/>
              </a:rPr>
              <a:t>は第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kumimoji="1" lang="ja-JP" altLang="en-US" sz="1200" b="1">
                <a:latin typeface="Meiryo" panose="020B0604030504040204" pitchFamily="34" charset="-128"/>
                <a:ea typeface="Meiryo" panose="020B0604030504040204" pitchFamily="34" charset="-128"/>
              </a:rPr>
              <a:t>回で実装済み</a:t>
            </a:r>
          </a:p>
          <a:p>
            <a:pPr algn="l"/>
            <a:r>
              <a:rPr kumimoji="1" lang="ja-JP" altLang="en-US" sz="1200" b="1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const embedding = await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this.llm.getEmbedding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(text);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const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docId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=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this.documents.length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;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this.documents.push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({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    id: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docId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,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    text: text,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    metadata: metadata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});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this.embeddings.push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(embedding);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return </a:t>
            </a:r>
            <a:r>
              <a:rPr kumimoji="1" lang="en-US" altLang="ja-JP" sz="12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docId</a:t>
            </a:r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;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}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... </a:t>
            </a:r>
            <a:r>
              <a:rPr kumimoji="1" lang="ja-JP" altLang="en-US" sz="1200" b="1">
                <a:latin typeface="Meiryo" panose="020B0604030504040204" pitchFamily="34" charset="-128"/>
                <a:ea typeface="Meiryo" panose="020B0604030504040204" pitchFamily="34" charset="-128"/>
              </a:rPr>
              <a:t>続く</a:t>
            </a:r>
          </a:p>
          <a:p>
            <a:pPr algn="l"/>
            <a:r>
              <a:rPr kumimoji="1"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}</a:t>
            </a:r>
            <a:endParaRPr kumimoji="1" lang="ja-JP" altLang="en-US" sz="12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6464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9A83D-403F-8263-0FD0-6160DBDA6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8D17A1-475E-5B88-DC76-65D45859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870"/>
            <a:ext cx="10515600" cy="1325563"/>
          </a:xfrm>
        </p:spPr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3 - </a:t>
            </a:r>
            <a:r>
              <a:rPr lang="ja-JP" altLang="en-US"/>
              <a:t>ベクトル検索エンジン</a:t>
            </a:r>
            <a:br>
              <a:rPr lang="en-US" altLang="ja-JP" dirty="0"/>
            </a:br>
            <a:r>
              <a:rPr lang="ja-JP" altLang="en-US"/>
              <a:t>追加コード</a:t>
            </a:r>
            <a:r>
              <a:rPr lang="en-US" altLang="ja-JP" dirty="0"/>
              <a:t>: </a:t>
            </a:r>
            <a:r>
              <a:rPr lang="ja-JP" altLang="en-US"/>
              <a:t>検索機能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0A7BCF-CFFF-846E-24C7-A768AB42F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7457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err="1"/>
              <a:t>js</a:t>
            </a:r>
            <a:r>
              <a:rPr lang="en-US" altLang="ja-JP" dirty="0"/>
              <a:t>/vector-</a:t>
            </a:r>
            <a:r>
              <a:rPr lang="en-US" altLang="ja-JP" dirty="0" err="1"/>
              <a:t>search.js</a:t>
            </a:r>
            <a:endParaRPr lang="en-US" altLang="ja-JP" dirty="0"/>
          </a:p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08A6C4-FD1A-802F-D52E-CA0DC6FD9636}"/>
              </a:ext>
            </a:extLst>
          </p:cNvPr>
          <p:cNvSpPr txBox="1"/>
          <p:nvPr/>
        </p:nvSpPr>
        <p:spPr>
          <a:xfrm>
            <a:off x="4638403" y="1813172"/>
            <a:ext cx="7203077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async search(query,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topK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= 5) {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1.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クエリの埋め込み生成</a:t>
            </a:r>
          </a:p>
          <a:p>
            <a:pPr algn="l"/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const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queryEmbedding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= await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this.llm.getEmbedding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(query);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2.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全文書との類似度計算</a:t>
            </a:r>
          </a:p>
          <a:p>
            <a:pPr algn="l"/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const similarities =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this.embeddings.map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((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docEmb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,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idx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) =&gt; ({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docId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: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idx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,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document: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this.documents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[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idx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],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similarity: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this.cosineSimilarity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queryEmb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,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docEmb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}));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3.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類似度でソート</a:t>
            </a:r>
          </a:p>
          <a:p>
            <a:pPr algn="l"/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similarities.sort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((a, b) =&gt;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b.similarity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-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a.similarity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4.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上位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K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件を返す</a:t>
            </a:r>
          </a:p>
          <a:p>
            <a:pPr algn="l"/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return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similarities.slice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(0,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topK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}</a:t>
            </a:r>
            <a:endParaRPr kumimoji="1" lang="ja-JP" altLang="en-US" sz="1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24361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C5DA-7576-8D38-B2AA-C25CF1FEE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9DA676-181C-9B13-2621-5CCA5B28D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870"/>
            <a:ext cx="10515600" cy="1325563"/>
          </a:xfrm>
        </p:spPr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3 - </a:t>
            </a:r>
            <a:r>
              <a:rPr lang="ja-JP" altLang="en-US"/>
              <a:t>ベクトル検索エンジン</a:t>
            </a:r>
            <a:br>
              <a:rPr lang="en-US" altLang="ja-JP" dirty="0"/>
            </a:br>
            <a:r>
              <a:rPr lang="ja-JP" altLang="en-US"/>
              <a:t>追加コード</a:t>
            </a:r>
            <a:r>
              <a:rPr lang="en-US" altLang="ja-JP" dirty="0"/>
              <a:t>: </a:t>
            </a:r>
            <a:r>
              <a:rPr lang="ja-JP" altLang="en-US"/>
              <a:t>コサイン類似度計算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61B209-AA44-2896-506F-36E7B19F2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7457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err="1"/>
              <a:t>js</a:t>
            </a:r>
            <a:r>
              <a:rPr lang="en-US" altLang="ja-JP" dirty="0"/>
              <a:t>/vector-</a:t>
            </a:r>
            <a:r>
              <a:rPr lang="en-US" altLang="ja-JP" dirty="0" err="1"/>
              <a:t>search.js</a:t>
            </a:r>
            <a:endParaRPr lang="en-US" altLang="ja-JP" dirty="0"/>
          </a:p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73F607F-6223-79B4-3349-D3D11DD7AC72}"/>
              </a:ext>
            </a:extLst>
          </p:cNvPr>
          <p:cNvSpPr txBox="1"/>
          <p:nvPr/>
        </p:nvSpPr>
        <p:spPr>
          <a:xfrm>
            <a:off x="4638403" y="1813172"/>
            <a:ext cx="720307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cosineSimilarity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vectorA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,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vectorB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) {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内積を計算</a:t>
            </a:r>
          </a:p>
          <a:p>
            <a:pPr algn="l"/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const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dotProduct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=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vectorA.reduce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(sum, a,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i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) =&gt; sum + a *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vectorB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[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i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], 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0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ノルム（長さ）を計算</a:t>
            </a:r>
          </a:p>
          <a:p>
            <a:pPr algn="l"/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const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normA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=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Math.sqrt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vectorA.reduce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((sum, a) =&gt; sum + a * a, 0)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const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normB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=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Math.sqrt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vectorB.reduce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((sum, b) =&gt; sum + b * b, 0)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コサイン類似度</a:t>
            </a:r>
          </a:p>
          <a:p>
            <a:pPr algn="l"/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return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dotProduct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/ (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normA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*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normB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}</a:t>
            </a:r>
            <a:endParaRPr kumimoji="1" lang="ja-JP" altLang="en-US" sz="1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9708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65A379-C968-2D99-86C5-FE46903D9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4: </a:t>
            </a:r>
            <a:r>
              <a:rPr lang="ja-JP" altLang="en-US"/>
              <a:t>ベクトル検索のテスト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752254-6044-3F24-EA9E-9C99FDE3B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4920" y="1690687"/>
            <a:ext cx="6278880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sz="1400" dirty="0"/>
              <a:t>async function </a:t>
            </a:r>
            <a:r>
              <a:rPr kumimoji="1" lang="en-US" altLang="ja-JP" sz="1400" dirty="0" err="1"/>
              <a:t>testVectorSearch</a:t>
            </a:r>
            <a:r>
              <a:rPr kumimoji="1" lang="en-US" altLang="ja-JP" sz="1400" dirty="0"/>
              <a:t>() {</a:t>
            </a:r>
          </a:p>
          <a:p>
            <a:pPr marL="0" indent="0">
              <a:buNone/>
            </a:pPr>
            <a:r>
              <a:rPr kumimoji="1" lang="en-US" altLang="ja-JP" sz="1400" dirty="0"/>
              <a:t>    const engine = new </a:t>
            </a:r>
            <a:r>
              <a:rPr kumimoji="1" lang="en-US" altLang="ja-JP" sz="1400" dirty="0" err="1"/>
              <a:t>VectorSearchEngine</a:t>
            </a:r>
            <a:r>
              <a:rPr kumimoji="1" lang="en-US" altLang="ja-JP" sz="1400" dirty="0"/>
              <a:t>();</a:t>
            </a:r>
          </a:p>
          <a:p>
            <a:pPr marL="0" indent="0">
              <a:buNone/>
            </a:pPr>
            <a:r>
              <a:rPr kumimoji="1" lang="en-US" altLang="ja-JP" sz="1400" dirty="0"/>
              <a:t>    </a:t>
            </a:r>
          </a:p>
          <a:p>
            <a:pPr marL="0" indent="0">
              <a:buNone/>
            </a:pPr>
            <a:r>
              <a:rPr kumimoji="1" lang="en-US" altLang="ja-JP" sz="1400" dirty="0"/>
              <a:t>    // </a:t>
            </a:r>
            <a:r>
              <a:rPr kumimoji="1" lang="ja-JP" altLang="en-US" sz="1400"/>
              <a:t>テスト用に</a:t>
            </a:r>
            <a:r>
              <a:rPr kumimoji="1" lang="en-US" altLang="ja-JP" sz="1400" dirty="0"/>
              <a:t>3</a:t>
            </a:r>
            <a:r>
              <a:rPr kumimoji="1" lang="ja-JP" altLang="en-US" sz="1400"/>
              <a:t>件追加</a:t>
            </a:r>
          </a:p>
          <a:p>
            <a:pPr marL="0" indent="0">
              <a:buNone/>
            </a:pPr>
            <a:r>
              <a:rPr kumimoji="1" lang="ja-JP" altLang="en-US" sz="1400"/>
              <a:t>    </a:t>
            </a:r>
            <a:r>
              <a:rPr kumimoji="1" lang="en-US" altLang="ja-JP" sz="1400" dirty="0"/>
              <a:t>await </a:t>
            </a:r>
            <a:r>
              <a:rPr kumimoji="1" lang="en-US" altLang="ja-JP" sz="1400" dirty="0" err="1"/>
              <a:t>engine.addDocument</a:t>
            </a:r>
            <a:r>
              <a:rPr kumimoji="1" lang="en-US" altLang="ja-JP" sz="1400" dirty="0"/>
              <a:t>("Python</a:t>
            </a:r>
            <a:r>
              <a:rPr kumimoji="1" lang="ja-JP" altLang="en-US" sz="1400"/>
              <a:t>は人気のプログラミング言語</a:t>
            </a:r>
            <a:r>
              <a:rPr kumimoji="1" lang="en-US" altLang="ja-JP" sz="1400" dirty="0"/>
              <a:t>");</a:t>
            </a:r>
          </a:p>
          <a:p>
            <a:pPr marL="0" indent="0">
              <a:buNone/>
            </a:pPr>
            <a:r>
              <a:rPr kumimoji="1" lang="en-US" altLang="ja-JP" sz="1400" dirty="0"/>
              <a:t>    await </a:t>
            </a:r>
            <a:r>
              <a:rPr kumimoji="1" lang="en-US" altLang="ja-JP" sz="1400" dirty="0" err="1"/>
              <a:t>engine.addDocument</a:t>
            </a:r>
            <a:r>
              <a:rPr kumimoji="1" lang="en-US" altLang="ja-JP" sz="1400" dirty="0"/>
              <a:t>("</a:t>
            </a:r>
            <a:r>
              <a:rPr kumimoji="1" lang="ja-JP" altLang="en-US" sz="1400"/>
              <a:t>変数はデータを保存する場所</a:t>
            </a:r>
            <a:r>
              <a:rPr kumimoji="1" lang="en-US" altLang="ja-JP" sz="1400" dirty="0"/>
              <a:t>");</a:t>
            </a:r>
          </a:p>
          <a:p>
            <a:pPr marL="0" indent="0">
              <a:buNone/>
            </a:pPr>
            <a:r>
              <a:rPr kumimoji="1" lang="en-US" altLang="ja-JP" sz="1400" dirty="0"/>
              <a:t>    await </a:t>
            </a:r>
            <a:r>
              <a:rPr kumimoji="1" lang="en-US" altLang="ja-JP" sz="1400" dirty="0" err="1"/>
              <a:t>engine.addDocument</a:t>
            </a:r>
            <a:r>
              <a:rPr kumimoji="1" lang="en-US" altLang="ja-JP" sz="1400" dirty="0"/>
              <a:t>("</a:t>
            </a:r>
            <a:r>
              <a:rPr kumimoji="1" lang="ja-JP" altLang="en-US" sz="1400"/>
              <a:t>機械学習は</a:t>
            </a:r>
            <a:r>
              <a:rPr kumimoji="1" lang="en-US" altLang="ja-JP" sz="1400" dirty="0"/>
              <a:t>AI</a:t>
            </a:r>
            <a:r>
              <a:rPr kumimoji="1" lang="ja-JP" altLang="en-US" sz="1400"/>
              <a:t>の一分野</a:t>
            </a:r>
            <a:r>
              <a:rPr kumimoji="1" lang="en-US" altLang="ja-JP" sz="1400" dirty="0"/>
              <a:t>");</a:t>
            </a:r>
          </a:p>
          <a:p>
            <a:pPr marL="0" indent="0">
              <a:buNone/>
            </a:pPr>
            <a:r>
              <a:rPr kumimoji="1" lang="en-US" altLang="ja-JP" sz="1400" dirty="0"/>
              <a:t>    </a:t>
            </a:r>
          </a:p>
          <a:p>
            <a:pPr marL="0" indent="0">
              <a:buNone/>
            </a:pPr>
            <a:r>
              <a:rPr kumimoji="1" lang="en-US" altLang="ja-JP" sz="1400" dirty="0"/>
              <a:t>    // </a:t>
            </a:r>
            <a:r>
              <a:rPr kumimoji="1" lang="ja-JP" altLang="en-US" sz="1400"/>
              <a:t>検索</a:t>
            </a:r>
          </a:p>
          <a:p>
            <a:pPr marL="0" indent="0">
              <a:buNone/>
            </a:pPr>
            <a:r>
              <a:rPr kumimoji="1" lang="ja-JP" altLang="en-US" sz="1400"/>
              <a:t>    </a:t>
            </a:r>
            <a:r>
              <a:rPr kumimoji="1" lang="en-US" altLang="ja-JP" sz="1400" dirty="0"/>
              <a:t>const results = await </a:t>
            </a:r>
            <a:r>
              <a:rPr kumimoji="1" lang="en-US" altLang="ja-JP" sz="1400" dirty="0" err="1"/>
              <a:t>engine.search</a:t>
            </a:r>
            <a:r>
              <a:rPr kumimoji="1" lang="en-US" altLang="ja-JP" sz="1400" dirty="0"/>
              <a:t>("</a:t>
            </a:r>
            <a:r>
              <a:rPr kumimoji="1" lang="ja-JP" altLang="en-US" sz="1400"/>
              <a:t>プログラミング</a:t>
            </a:r>
            <a:r>
              <a:rPr kumimoji="1" lang="en-US" altLang="ja-JP" sz="1400" dirty="0"/>
              <a:t>", 2);</a:t>
            </a:r>
          </a:p>
          <a:p>
            <a:pPr marL="0" indent="0">
              <a:buNone/>
            </a:pPr>
            <a:r>
              <a:rPr kumimoji="1" lang="en-US" altLang="ja-JP" sz="1400" dirty="0"/>
              <a:t>    </a:t>
            </a:r>
            <a:r>
              <a:rPr kumimoji="1" lang="en-US" altLang="ja-JP" sz="1400" dirty="0" err="1"/>
              <a:t>console.table</a:t>
            </a:r>
            <a:r>
              <a:rPr kumimoji="1" lang="en-US" altLang="ja-JP" sz="1400" dirty="0"/>
              <a:t>(</a:t>
            </a:r>
            <a:r>
              <a:rPr kumimoji="1" lang="en-US" altLang="ja-JP" sz="1400" dirty="0" err="1"/>
              <a:t>results.map</a:t>
            </a:r>
            <a:r>
              <a:rPr kumimoji="1" lang="en-US" altLang="ja-JP" sz="1400" dirty="0"/>
              <a:t>(r =&gt; ({</a:t>
            </a:r>
          </a:p>
          <a:p>
            <a:pPr marL="0" indent="0">
              <a:buNone/>
            </a:pPr>
            <a:r>
              <a:rPr kumimoji="1" lang="en-US" altLang="ja-JP" sz="1400" dirty="0"/>
              <a:t>        text: </a:t>
            </a:r>
            <a:r>
              <a:rPr kumimoji="1" lang="en-US" altLang="ja-JP" sz="1400" dirty="0" err="1"/>
              <a:t>r.document.text.substring</a:t>
            </a:r>
            <a:r>
              <a:rPr kumimoji="1" lang="en-US" altLang="ja-JP" sz="1400" dirty="0"/>
              <a:t>(0, 30),</a:t>
            </a:r>
          </a:p>
          <a:p>
            <a:pPr marL="0" indent="0">
              <a:buNone/>
            </a:pPr>
            <a:r>
              <a:rPr kumimoji="1" lang="en-US" altLang="ja-JP" sz="1400" dirty="0"/>
              <a:t>        similarity: </a:t>
            </a:r>
            <a:r>
              <a:rPr kumimoji="1" lang="en-US" altLang="ja-JP" sz="1400" dirty="0" err="1"/>
              <a:t>r.similarity.toFixed</a:t>
            </a:r>
            <a:r>
              <a:rPr kumimoji="1" lang="en-US" altLang="ja-JP" sz="1400" dirty="0"/>
              <a:t>(3)</a:t>
            </a:r>
          </a:p>
          <a:p>
            <a:pPr marL="0" indent="0">
              <a:buNone/>
            </a:pPr>
            <a:r>
              <a:rPr kumimoji="1" lang="en-US" altLang="ja-JP" sz="1400" dirty="0"/>
              <a:t>    })));</a:t>
            </a:r>
          </a:p>
          <a:p>
            <a:pPr marL="0" indent="0">
              <a:buNone/>
            </a:pPr>
            <a:r>
              <a:rPr kumimoji="1" lang="en-US" altLang="ja-JP" sz="1400" dirty="0"/>
              <a:t>}</a:t>
            </a:r>
            <a:endParaRPr kumimoji="1" lang="ja-JP" altLang="en-US" sz="14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8027995-E24E-9C69-035C-9968EA866E7F}"/>
              </a:ext>
            </a:extLst>
          </p:cNvPr>
          <p:cNvSpPr txBox="1"/>
          <p:nvPr/>
        </p:nvSpPr>
        <p:spPr>
          <a:xfrm>
            <a:off x="777240" y="21259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簡易テストコード</a:t>
            </a:r>
            <a:endParaRPr kumimoji="1" lang="ja-JP" altLang="en-US" sz="28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69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45DF42-F957-9768-D801-F4782700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5 - RAG</a:t>
            </a:r>
            <a:r>
              <a:rPr lang="ja-JP" altLang="en-US"/>
              <a:t>システム</a:t>
            </a:r>
            <a:br>
              <a:rPr lang="en-US" altLang="ja-JP" dirty="0"/>
            </a:br>
            <a:r>
              <a:rPr lang="en-US" altLang="ja-JP" dirty="0" err="1"/>
              <a:t>RAGSystem</a:t>
            </a:r>
            <a:r>
              <a:rPr lang="en-US" altLang="ja-JP" dirty="0"/>
              <a:t> </a:t>
            </a:r>
            <a:r>
              <a:rPr lang="ja-JP" altLang="en-US"/>
              <a:t>クラス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D49259-E75B-AC51-30BA-0B0D55BFF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88080" cy="4351338"/>
          </a:xfrm>
        </p:spPr>
        <p:txBody>
          <a:bodyPr/>
          <a:lstStyle/>
          <a:p>
            <a:pPr marL="0" indent="0">
              <a:buNone/>
            </a:pPr>
            <a:r>
              <a:rPr lang="ja-JP" altLang="en-US" b="1"/>
              <a:t>新規ファイル作成</a:t>
            </a:r>
            <a:r>
              <a:rPr lang="en-US" altLang="ja-JP" dirty="0"/>
              <a:t>: </a:t>
            </a:r>
            <a:r>
              <a:rPr lang="en-US" altLang="ja-JP" dirty="0" err="1"/>
              <a:t>js</a:t>
            </a:r>
            <a:r>
              <a:rPr lang="en-US" altLang="ja-JP" dirty="0"/>
              <a:t>/rag-</a:t>
            </a:r>
            <a:r>
              <a:rPr lang="en-US" altLang="ja-JP" dirty="0" err="1"/>
              <a:t>system.js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107AB2-5105-28E6-C62F-43D7D055C795}"/>
              </a:ext>
            </a:extLst>
          </p:cNvPr>
          <p:cNvSpPr txBox="1"/>
          <p:nvPr/>
        </p:nvSpPr>
        <p:spPr>
          <a:xfrm>
            <a:off x="4320540" y="1825625"/>
            <a:ext cx="7317452" cy="510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//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js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/rag-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system.js</a:t>
            </a:r>
            <a:endParaRPr kumimoji="1" lang="en-US" altLang="ja-JP" sz="16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class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RAGSystem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{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constructor() {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this.searchEngine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= new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VectorSearchEngine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//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第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回で作成したクライアントを再利用</a:t>
            </a:r>
          </a:p>
          <a:p>
            <a:pPr algn="l"/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this.llm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= new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EducationLLMClient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API_CONFIG.studentId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}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async initialize(documents) {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console.log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('RAG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システム初期化中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...');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for (const doc of documents) {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    await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this.searchEngine.addDocument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       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doc.content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, 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        doc  //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メタデータも保存</a:t>
            </a:r>
          </a:p>
          <a:p>
            <a:pPr algn="l"/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            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}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console.log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(`${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documents.length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}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件の文書を登録完了！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`);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}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...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続く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}</a:t>
            </a:r>
            <a:endParaRPr kumimoji="1" lang="ja-JP" altLang="en-US" sz="1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6903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C0DA2-7F08-8987-9F0B-04E0EDD0F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EFBF8B-43CE-3D62-FC4A-95ED8A700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5 - RAG</a:t>
            </a:r>
            <a:r>
              <a:rPr lang="ja-JP" altLang="en-US"/>
              <a:t>システム</a:t>
            </a:r>
            <a:br>
              <a:rPr lang="en-US" altLang="ja-JP" dirty="0"/>
            </a:br>
            <a:r>
              <a:rPr lang="ja-JP" altLang="en-US"/>
              <a:t>コード</a:t>
            </a:r>
            <a:r>
              <a:rPr lang="en-US" altLang="ja-JP" dirty="0"/>
              <a:t>: </a:t>
            </a:r>
            <a:r>
              <a:rPr lang="ja-JP" altLang="en-US"/>
              <a:t>クエリ処理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B177B8-1E8F-AD2D-ED0A-4E3AC54C3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8808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err="1"/>
              <a:t>js</a:t>
            </a:r>
            <a:r>
              <a:rPr lang="en-US" altLang="ja-JP" dirty="0"/>
              <a:t>/rag-</a:t>
            </a:r>
            <a:r>
              <a:rPr lang="en-US" altLang="ja-JP" dirty="0" err="1"/>
              <a:t>system.js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EE3BE4-813D-3C24-3782-03BC4851CCAA}"/>
              </a:ext>
            </a:extLst>
          </p:cNvPr>
          <p:cNvSpPr txBox="1"/>
          <p:nvPr/>
        </p:nvSpPr>
        <p:spPr>
          <a:xfrm>
            <a:off x="4320540" y="1825625"/>
            <a:ext cx="768096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async query(question, options = {}) {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1. </a:t>
            </a:r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関連文書の検索</a:t>
            </a:r>
          </a:p>
          <a:p>
            <a:pPr algn="l"/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const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relevantDocs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= await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this.searchEngine.search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question, 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options.retrieveCount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|| 3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);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if (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relevantDocs.length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=== 0) {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// </a:t>
            </a:r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関連文書がなければ通常の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LLM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return await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this.llm.chat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(question);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}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2. </a:t>
            </a:r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コンテキストの構築</a:t>
            </a:r>
          </a:p>
          <a:p>
            <a:pPr algn="l"/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const context =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this.buildContext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relevantDocs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);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3. </a:t>
            </a:r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プロンプトの生成</a:t>
            </a:r>
          </a:p>
          <a:p>
            <a:pPr algn="l"/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const prompt =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this.buildPrompt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(question, context);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4. LLM</a:t>
            </a:r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で回答生成</a:t>
            </a:r>
          </a:p>
          <a:p>
            <a:pPr algn="l"/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const response = await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this.llm.chat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(prompt);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return { ...response, sources: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relevantDocs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};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}</a:t>
            </a:r>
            <a:endParaRPr kumimoji="1" lang="ja-JP" altLang="en-US" sz="1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6252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8A0DD-B21B-E3BB-C73D-C9D7EB1F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BFDDD-1758-48B5-0D6D-D9637B85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5 - RAG</a:t>
            </a:r>
            <a:r>
              <a:rPr lang="ja-JP" altLang="en-US"/>
              <a:t>システム</a:t>
            </a:r>
            <a:br>
              <a:rPr lang="en-US" altLang="ja-JP" dirty="0"/>
            </a:br>
            <a:r>
              <a:rPr lang="ja-JP" altLang="en-US"/>
              <a:t>コード</a:t>
            </a:r>
            <a:r>
              <a:rPr lang="en-US" altLang="ja-JP" dirty="0"/>
              <a:t>: </a:t>
            </a:r>
            <a:r>
              <a:rPr lang="ja-JP" altLang="en-US"/>
              <a:t>コンテキスト構築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C11C58-48A6-F939-3834-E6268E50C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8808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err="1"/>
              <a:t>js</a:t>
            </a:r>
            <a:r>
              <a:rPr lang="en-US" altLang="ja-JP" dirty="0"/>
              <a:t>/rag-</a:t>
            </a:r>
            <a:r>
              <a:rPr lang="en-US" altLang="ja-JP" dirty="0" err="1"/>
              <a:t>system.js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6B530B-CBDE-640B-13A2-C7F0E76C5B0A}"/>
              </a:ext>
            </a:extLst>
          </p:cNvPr>
          <p:cNvSpPr txBox="1"/>
          <p:nvPr/>
        </p:nvSpPr>
        <p:spPr>
          <a:xfrm>
            <a:off x="4320540" y="1825625"/>
            <a:ext cx="76809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buildContext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relevantDocs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) {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return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relevantDocs</a:t>
            </a:r>
            <a:endParaRPr kumimoji="1" lang="en-US" altLang="ja-JP" sz="14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.map((doc, index) =&gt; 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    `[</a:t>
            </a:r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文書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${index + 1}] ${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doc.document.text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}`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)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  .join('\n\n');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}</a:t>
            </a:r>
          </a:p>
          <a:p>
            <a:pPr algn="l"/>
            <a:endParaRPr kumimoji="1" lang="en-US" altLang="ja-JP" sz="14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buildPrompt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(question, context) {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return `</a:t>
            </a:r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以下の文書を参考にして、質問に答えてください。</a:t>
            </a:r>
          </a:p>
          <a:p>
            <a:pPr algn="l"/>
            <a:endParaRPr kumimoji="1" lang="ja-JP" altLang="en-US" sz="1400" b="1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参考文書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${context}</a:t>
            </a:r>
          </a:p>
          <a:p>
            <a:pPr algn="l"/>
            <a:endParaRPr kumimoji="1" lang="en-US" altLang="ja-JP" sz="14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質問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: ${question}</a:t>
            </a:r>
          </a:p>
          <a:p>
            <a:pPr algn="l"/>
            <a:endParaRPr kumimoji="1" lang="en-US" altLang="ja-JP" sz="14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回答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:`;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}</a:t>
            </a:r>
            <a:endParaRPr kumimoji="1" lang="ja-JP" altLang="en-US" sz="1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6825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AC818-B1C6-7560-A9D4-7EE1362B9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F3F409-2876-6122-FC9C-E8E8425B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6 - UI</a:t>
            </a:r>
            <a:r>
              <a:rPr lang="ja-JP" altLang="en-US"/>
              <a:t>作成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9B34F0-F4ED-6B8A-3B56-B2847C090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8808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err="1"/>
              <a:t>rag.html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FC2D48A-39F9-2D6F-CFF0-20955DE3CD85}"/>
              </a:ext>
            </a:extLst>
          </p:cNvPr>
          <p:cNvSpPr txBox="1"/>
          <p:nvPr/>
        </p:nvSpPr>
        <p:spPr>
          <a:xfrm>
            <a:off x="4320540" y="1825625"/>
            <a:ext cx="768096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&lt;!DOCTYPE html&gt;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&lt;html lang="ja"&gt;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&lt;head&gt;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&lt;title&gt;RAG</a:t>
            </a:r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システム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&lt;/title&gt;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&lt;link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rel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="stylesheet"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href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="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css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style.css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"&gt;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&lt;/head&gt;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&lt;body&gt;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&lt;h1&gt;🔍 RAG</a:t>
            </a:r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質問応答システム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&lt;/h1&gt;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&lt;input id="question" placeholder="</a:t>
            </a:r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質問を入力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"&gt;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&lt;button onclick="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askRAG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()"&gt;</a:t>
            </a:r>
            <a:r>
              <a:rPr kumimoji="1"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質問する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&lt;/button&gt;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&lt;div id="rag-result"&gt;&lt;/div&gt;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&lt;script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src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="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js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config.js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"&gt;&lt;/script&gt;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&lt;script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src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="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js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llm-client.js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"&gt;&lt;/script&gt;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&lt;script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src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="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js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/vector-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search.js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"&gt;&lt;/script&gt;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&lt;script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src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="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js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/rag-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system.js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"&gt;&lt;/script&gt;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    &lt;script 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src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="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js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/app-</a:t>
            </a:r>
            <a:r>
              <a:rPr kumimoji="1" lang="en-US" altLang="ja-JP" sz="14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rag.js</a:t>
            </a:r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"&gt;&lt;/script&gt;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&lt;/body&gt;</a:t>
            </a:r>
          </a:p>
          <a:p>
            <a:pPr algn="l"/>
            <a:r>
              <a:rPr kumimoji="1"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&lt;/html&gt;</a:t>
            </a:r>
            <a:endParaRPr kumimoji="1" lang="ja-JP" altLang="en-US" sz="1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8426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C24D56-55E4-C280-7135-FF644F892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7 - </a:t>
            </a:r>
            <a:r>
              <a:rPr lang="ja-JP" altLang="en-US"/>
              <a:t>メインアプリ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E77737-071C-A66C-FAA4-4ABE02809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99460" cy="4351338"/>
          </a:xfrm>
        </p:spPr>
        <p:txBody>
          <a:bodyPr/>
          <a:lstStyle/>
          <a:p>
            <a:pPr marL="0" indent="0">
              <a:buNone/>
            </a:pPr>
            <a:r>
              <a:rPr lang="ja-JP" altLang="en-US" b="1"/>
              <a:t>新規ファイル作成</a:t>
            </a:r>
            <a:r>
              <a:rPr lang="en-US" altLang="ja-JP" dirty="0"/>
              <a:t>: </a:t>
            </a:r>
            <a:r>
              <a:rPr lang="en-US" altLang="ja-JP" dirty="0" err="1"/>
              <a:t>js</a:t>
            </a:r>
            <a:r>
              <a:rPr lang="en-US" altLang="ja-JP" dirty="0"/>
              <a:t>/app-</a:t>
            </a:r>
            <a:r>
              <a:rPr lang="en-US" altLang="ja-JP" dirty="0" err="1"/>
              <a:t>rag.js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659216-BDB5-FFCA-7599-76F712A48191}"/>
              </a:ext>
            </a:extLst>
          </p:cNvPr>
          <p:cNvSpPr txBox="1"/>
          <p:nvPr/>
        </p:nvSpPr>
        <p:spPr>
          <a:xfrm>
            <a:off x="4423476" y="1748909"/>
            <a:ext cx="7261732" cy="510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let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ragSystem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;</a:t>
            </a:r>
          </a:p>
          <a:p>
            <a:pPr algn="l"/>
            <a:endParaRPr kumimoji="1" lang="en-US" altLang="ja-JP" sz="16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//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初期化</a:t>
            </a:r>
          </a:p>
          <a:p>
            <a:pPr algn="l"/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document.addEventListener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('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DOMContentLoaded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', async () =&gt; {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ragSystem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= new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RAGSystem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既存のサンプル文書を読み込み</a:t>
            </a:r>
          </a:p>
          <a:p>
            <a:pPr algn="l"/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const response = await fetch('data/sample-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documents.json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');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const data = await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response.json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await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ragSystem.initialize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data.documents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console.log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('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✅ 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RAG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システム準備完了！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');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});</a:t>
            </a:r>
          </a:p>
          <a:p>
            <a:pPr algn="l"/>
            <a:endParaRPr kumimoji="1" lang="en-US" altLang="ja-JP" sz="16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// </a:t>
            </a:r>
            <a:r>
              <a:rPr kumimoji="1"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質問処理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async function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askRAG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() {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const question =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document.getElementById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('question').value;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const result = await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ragSystem.query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(question);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1600" b="1" dirty="0" err="1">
                <a:latin typeface="Meiryo" panose="020B0604030504040204" pitchFamily="34" charset="-128"/>
                <a:ea typeface="Meiryo" panose="020B0604030504040204" pitchFamily="34" charset="-128"/>
              </a:rPr>
              <a:t>ragSystem.displayRAGResult</a:t>
            </a:r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(result);</a:t>
            </a:r>
          </a:p>
          <a:p>
            <a:pPr algn="l"/>
            <a:r>
              <a:rPr kumimoji="1"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}</a:t>
            </a:r>
            <a:endParaRPr kumimoji="1" lang="ja-JP" altLang="en-US" sz="1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0862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72221D-8D7B-474D-A7B8-3F3E91C7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2731"/>
            <a:ext cx="10515600" cy="1325563"/>
          </a:xfrm>
        </p:spPr>
        <p:txBody>
          <a:bodyPr/>
          <a:lstStyle/>
          <a:p>
            <a:r>
              <a:rPr kumimoji="1" lang="ja-JP" altLang="en-US"/>
              <a:t>実習課題</a:t>
            </a:r>
          </a:p>
        </p:txBody>
      </p:sp>
    </p:spTree>
    <p:extLst>
      <p:ext uri="{BB962C8B-B14F-4D97-AF65-F5344CB8AC3E}">
        <p14:creationId xmlns:p14="http://schemas.microsoft.com/office/powerpoint/2010/main" val="2124860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2CC7E-303D-7BDC-A17A-6ED64322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7F65FB-FC8C-DD4B-90EA-D759013A0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実習課題</a:t>
            </a:r>
            <a:r>
              <a:rPr lang="en-US" altLang="ja-JP" dirty="0"/>
              <a:t>1: </a:t>
            </a:r>
            <a:r>
              <a:rPr lang="ja-JP" altLang="en-US"/>
              <a:t>文書の追加・編集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D77C1B-04C8-F85E-9D21-441900694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" y="1690688"/>
            <a:ext cx="3771900" cy="5167311"/>
          </a:xfrm>
        </p:spPr>
        <p:txBody>
          <a:bodyPr>
            <a:normAutofit/>
          </a:bodyPr>
          <a:lstStyle/>
          <a:p>
            <a:r>
              <a:rPr lang="ja-JP" altLang="en-US" b="1"/>
              <a:t>課題</a:t>
            </a:r>
            <a:r>
              <a:rPr lang="en-US" altLang="ja-JP" dirty="0"/>
              <a:t>: data/sample-</a:t>
            </a:r>
            <a:r>
              <a:rPr lang="en-US" altLang="ja-JP" dirty="0" err="1"/>
              <a:t>documents.json</a:t>
            </a:r>
            <a:r>
              <a:rPr lang="en-US" altLang="ja-JP" dirty="0"/>
              <a:t> </a:t>
            </a:r>
            <a:r>
              <a:rPr lang="ja-JP" altLang="en-US"/>
              <a:t>に文書を追加</a:t>
            </a:r>
          </a:p>
          <a:p>
            <a:r>
              <a:rPr lang="ja-JP" altLang="en-US" b="1"/>
              <a:t>既存の</a:t>
            </a:r>
            <a:r>
              <a:rPr lang="en-US" altLang="ja-JP" b="1" dirty="0"/>
              <a:t>5</a:t>
            </a:r>
            <a:r>
              <a:rPr lang="ja-JP" altLang="en-US" b="1"/>
              <a:t>件を確認してから、自分の専門分野を追加</a:t>
            </a:r>
            <a:r>
              <a:rPr lang="en-US" altLang="ja-JP" dirty="0"/>
              <a:t>:</a:t>
            </a:r>
          </a:p>
          <a:p>
            <a:r>
              <a:rPr lang="ja-JP" altLang="en-US" b="1"/>
              <a:t>追加する文書数</a:t>
            </a:r>
            <a:r>
              <a:rPr lang="en-US" altLang="ja-JP" dirty="0"/>
              <a:t>: 3-5</a:t>
            </a:r>
            <a:r>
              <a:rPr lang="ja-JP" altLang="en-US"/>
              <a:t>件</a:t>
            </a:r>
          </a:p>
          <a:p>
            <a:r>
              <a:rPr lang="ja-JP" altLang="en-US" b="1"/>
              <a:t>テスト</a:t>
            </a:r>
            <a:r>
              <a:rPr lang="en-US" altLang="ja-JP" dirty="0"/>
              <a:t>: </a:t>
            </a:r>
            <a:r>
              <a:rPr lang="ja-JP" altLang="en-US"/>
              <a:t>追加した内容について質問してみる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F5205C-F824-242B-32D3-3C402888E3C4}"/>
              </a:ext>
            </a:extLst>
          </p:cNvPr>
          <p:cNvSpPr txBox="1"/>
          <p:nvPr/>
        </p:nvSpPr>
        <p:spPr>
          <a:xfrm>
            <a:off x="3977640" y="1690688"/>
            <a:ext cx="80467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{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"documents": [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... </a:t>
            </a:r>
            <a:r>
              <a:rPr kumimoji="1"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既存の</a:t>
            </a:r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5</a:t>
            </a:r>
            <a:r>
              <a:rPr kumimoji="1"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件</a:t>
            </a:r>
          </a:p>
          <a:p>
            <a:pPr algn="l"/>
            <a:r>
              <a:rPr kumimoji="1"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{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"id": "custom001",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"title": "</a:t>
            </a:r>
            <a:r>
              <a:rPr kumimoji="1"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あなたの得意分野</a:t>
            </a:r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",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"content": "</a:t>
            </a:r>
            <a:r>
              <a:rPr kumimoji="1"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ここに説明を書く（</a:t>
            </a:r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100-200</a:t>
            </a:r>
            <a:r>
              <a:rPr kumimoji="1"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文字）</a:t>
            </a:r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",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"subject": "your-subject",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"level": "beginner"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}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]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}</a:t>
            </a:r>
            <a:endParaRPr kumimoji="1" lang="ja-JP" altLang="en-US" sz="2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2563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4EBFA-2B5B-EF9A-86F8-3456511C5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7AAEB9-DB24-B46C-C4FB-9BCBB513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実習課題</a:t>
            </a:r>
            <a:r>
              <a:rPr lang="en-US" altLang="ja-JP" dirty="0"/>
              <a:t>2: </a:t>
            </a:r>
            <a:r>
              <a:rPr lang="ja-JP" altLang="en-US"/>
              <a:t>検索結果の改善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6F76E1-705D-49C3-0C34-AE35787FC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" y="1690688"/>
            <a:ext cx="3771900" cy="5167311"/>
          </a:xfrm>
        </p:spPr>
        <p:txBody>
          <a:bodyPr>
            <a:normAutofit/>
          </a:bodyPr>
          <a:lstStyle/>
          <a:p>
            <a:r>
              <a:rPr lang="ja-JP" altLang="en-US" b="1"/>
              <a:t>課題</a:t>
            </a:r>
            <a:r>
              <a:rPr lang="en-US" altLang="ja-JP" dirty="0"/>
              <a:t>: </a:t>
            </a:r>
            <a:r>
              <a:rPr lang="ja-JP" altLang="en-US"/>
              <a:t>検索結果の表示を見やすくする</a:t>
            </a:r>
            <a:endParaRPr lang="en-US" altLang="ja-JP" dirty="0"/>
          </a:p>
          <a:p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5FB0BF4-DCFD-4FF3-58CF-3AF76DF571A3}"/>
              </a:ext>
            </a:extLst>
          </p:cNvPr>
          <p:cNvSpPr txBox="1"/>
          <p:nvPr/>
        </p:nvSpPr>
        <p:spPr>
          <a:xfrm>
            <a:off x="3977640" y="1690688"/>
            <a:ext cx="80467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{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"documents": [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// ... </a:t>
            </a:r>
            <a:r>
              <a:rPr kumimoji="1"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既存の</a:t>
            </a:r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5</a:t>
            </a:r>
            <a:r>
              <a:rPr kumimoji="1"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件</a:t>
            </a:r>
          </a:p>
          <a:p>
            <a:pPr algn="l"/>
            <a:r>
              <a:rPr kumimoji="1"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{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"id": "custom001",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"title": "</a:t>
            </a:r>
            <a:r>
              <a:rPr kumimoji="1"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あなたの得意分野</a:t>
            </a:r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",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"content": "</a:t>
            </a:r>
            <a:r>
              <a:rPr kumimoji="1"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ここに説明を書く（</a:t>
            </a:r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100-200</a:t>
            </a:r>
            <a:r>
              <a:rPr kumimoji="1"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文字）</a:t>
            </a:r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",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"subject": "your-subject",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  "level": "beginner"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  }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  ]</a:t>
            </a:r>
          </a:p>
          <a:p>
            <a:pPr algn="l"/>
            <a:r>
              <a:rPr kumimoji="1"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}</a:t>
            </a:r>
            <a:endParaRPr kumimoji="1" lang="ja-JP" altLang="en-US" sz="2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8831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F3826-A623-FC78-2DBC-6C52715F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2B0FCD-329E-5ED4-D565-651DA8119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実習課題３</a:t>
            </a:r>
            <a:r>
              <a:rPr lang="en-US" altLang="ja-JP" dirty="0"/>
              <a:t>: RAG vs </a:t>
            </a:r>
            <a:r>
              <a:rPr lang="ja-JP" altLang="en-US"/>
              <a:t>通常</a:t>
            </a:r>
            <a:r>
              <a:rPr lang="en-US" altLang="ja-JP" dirty="0"/>
              <a:t>LLM</a:t>
            </a:r>
            <a:r>
              <a:rPr lang="ja-JP" altLang="en-US"/>
              <a:t>の比較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DDC4A9-FC47-9AC8-4F84-DAD20CA15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" y="1690688"/>
            <a:ext cx="3771900" cy="5167311"/>
          </a:xfrm>
        </p:spPr>
        <p:txBody>
          <a:bodyPr>
            <a:normAutofit/>
          </a:bodyPr>
          <a:lstStyle/>
          <a:p>
            <a:r>
              <a:rPr lang="ja-JP" altLang="en-US" b="1"/>
              <a:t>実験</a:t>
            </a:r>
            <a:r>
              <a:rPr lang="en-US" altLang="ja-JP" dirty="0"/>
              <a:t>:</a:t>
            </a:r>
          </a:p>
          <a:p>
            <a:pPr>
              <a:buFont typeface="+mj-lt"/>
              <a:buAutoNum type="arabicPeriod"/>
            </a:pPr>
            <a:r>
              <a:rPr lang="ja-JP" altLang="en-US"/>
              <a:t>第</a:t>
            </a:r>
            <a:r>
              <a:rPr lang="en-US" altLang="ja-JP" dirty="0"/>
              <a:t>1</a:t>
            </a:r>
            <a:r>
              <a:rPr lang="ja-JP" altLang="en-US"/>
              <a:t>回のチャットアプリで質問</a:t>
            </a:r>
          </a:p>
          <a:p>
            <a:pPr>
              <a:buFont typeface="+mj-lt"/>
              <a:buAutoNum type="arabicPeriod"/>
            </a:pPr>
            <a:r>
              <a:rPr lang="ja-JP" altLang="en-US"/>
              <a:t>今回の</a:t>
            </a:r>
            <a:r>
              <a:rPr lang="en-US" altLang="ja-JP" dirty="0"/>
              <a:t>RAG</a:t>
            </a:r>
            <a:r>
              <a:rPr lang="ja-JP" altLang="en-US"/>
              <a:t>システムで同じ質問</a:t>
            </a:r>
          </a:p>
          <a:p>
            <a:pPr>
              <a:buFont typeface="+mj-lt"/>
              <a:buAutoNum type="arabicPeriod"/>
            </a:pPr>
            <a:r>
              <a:rPr lang="ja-JP" altLang="en-US"/>
              <a:t>回答の違いを比較</a:t>
            </a:r>
          </a:p>
          <a:p>
            <a:endParaRPr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BD92772F-9127-FEF7-C200-FD800B8E9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736292"/>
              </p:ext>
            </p:extLst>
          </p:nvPr>
        </p:nvGraphicFramePr>
        <p:xfrm>
          <a:off x="4251960" y="1690688"/>
          <a:ext cx="7853679" cy="3910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7893">
                  <a:extLst>
                    <a:ext uri="{9D8B030D-6E8A-4147-A177-3AD203B41FA5}">
                      <a16:colId xmlns:a16="http://schemas.microsoft.com/office/drawing/2014/main" val="1160580902"/>
                    </a:ext>
                  </a:extLst>
                </a:gridCol>
                <a:gridCol w="2617893">
                  <a:extLst>
                    <a:ext uri="{9D8B030D-6E8A-4147-A177-3AD203B41FA5}">
                      <a16:colId xmlns:a16="http://schemas.microsoft.com/office/drawing/2014/main" val="530850178"/>
                    </a:ext>
                  </a:extLst>
                </a:gridCol>
                <a:gridCol w="2617893">
                  <a:extLst>
                    <a:ext uri="{9D8B030D-6E8A-4147-A177-3AD203B41FA5}">
                      <a16:colId xmlns:a16="http://schemas.microsoft.com/office/drawing/2014/main" val="3847836516"/>
                    </a:ext>
                  </a:extLst>
                </a:gridCol>
              </a:tblGrid>
              <a:tr h="977503">
                <a:tc>
                  <a:txBody>
                    <a:bodyPr/>
                    <a:lstStyle/>
                    <a:p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質問例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通常</a:t>
                      </a:r>
                      <a:r>
                        <a:rPr 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RAG</a:t>
                      </a:r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システム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404997"/>
                  </a:ext>
                </a:extLst>
              </a:tr>
              <a:tr h="977503">
                <a:tc>
                  <a:txBody>
                    <a:bodyPr/>
                    <a:lstStyle/>
                    <a:p>
                      <a:r>
                        <a:rPr lang="en-US" altLang="ja-JP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"</a:t>
                      </a:r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プログラミングとは？</a:t>
                      </a:r>
                      <a:r>
                        <a:rPr lang="en-US" altLang="ja-JP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080537"/>
                  </a:ext>
                </a:extLst>
              </a:tr>
              <a:tr h="977503">
                <a:tc>
                  <a:txBody>
                    <a:bodyPr/>
                    <a:lstStyle/>
                    <a:p>
                      <a:r>
                        <a:rPr lang="en-US" altLang="ja-JP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"</a:t>
                      </a:r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変数について教えて</a:t>
                      </a:r>
                      <a:r>
                        <a:rPr lang="en-US" altLang="ja-JP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712208"/>
                  </a:ext>
                </a:extLst>
              </a:tr>
              <a:tr h="977503">
                <a:tc>
                  <a:txBody>
                    <a:bodyPr/>
                    <a:lstStyle/>
                    <a:p>
                      <a:r>
                        <a:rPr lang="en-US" altLang="ja-JP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"</a:t>
                      </a:r>
                      <a:r>
                        <a:rPr lang="ja-JP" altLang="en-US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関数の使い方は？</a:t>
                      </a:r>
                      <a:r>
                        <a:rPr lang="en-US" altLang="ja-JP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888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423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A34D0C-E77C-2574-88D9-5CD23E58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B96D2A-45D1-D3AF-AD56-502A3A532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401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800" b="1" smtClean="0">
            <a:latin typeface="Meiryo" panose="020B0604030504040204" pitchFamily="34" charset="-128"/>
            <a:ea typeface="Meiryo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B93D0FD6C4F094F9F93517D4C735504" ma:contentTypeVersion="12" ma:contentTypeDescription="新しいドキュメントを作成します。" ma:contentTypeScope="" ma:versionID="9d1919d407e5848491635d37cd63f9ea">
  <xsd:schema xmlns:xsd="http://www.w3.org/2001/XMLSchema" xmlns:xs="http://www.w3.org/2001/XMLSchema" xmlns:p="http://schemas.microsoft.com/office/2006/metadata/properties" xmlns:ns2="0281a72a-abdb-4b96-8efc-4f0958390b15" xmlns:ns3="fe93796e-8116-42a3-8ecb-dbadbaf8c23f" targetNamespace="http://schemas.microsoft.com/office/2006/metadata/properties" ma:root="true" ma:fieldsID="f64faf8dd603a7f1cd7ce91e83abf8d9" ns2:_="" ns3:_="">
    <xsd:import namespace="0281a72a-abdb-4b96-8efc-4f0958390b15"/>
    <xsd:import namespace="fe93796e-8116-42a3-8ecb-dbadbaf8c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1a72a-abdb-4b96-8efc-4f0958390b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1ec0f05-8db9-4cb4-a53b-b8806002f2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93796e-8116-42a3-8ecb-dbadbaf8c23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1dffc61-53bc-4442-9b0d-904e7c5ddab2}" ma:internalName="TaxCatchAll" ma:showField="CatchAllData" ma:web="fe93796e-8116-42a3-8ecb-dbadbaf8c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e93796e-8116-42a3-8ecb-dbadbaf8c23f" xsi:nil="true"/>
    <lcf76f155ced4ddcb4097134ff3c332f xmlns="0281a72a-abdb-4b96-8efc-4f0958390b1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43B6E0-B06C-4847-BACB-9B1ECC493AF2}"/>
</file>

<file path=customXml/itemProps2.xml><?xml version="1.0" encoding="utf-8"?>
<ds:datastoreItem xmlns:ds="http://schemas.openxmlformats.org/officeDocument/2006/customXml" ds:itemID="{217BC5B9-C672-44BF-BF2C-1221133F0AD9}"/>
</file>

<file path=customXml/itemProps3.xml><?xml version="1.0" encoding="utf-8"?>
<ds:datastoreItem xmlns:ds="http://schemas.openxmlformats.org/officeDocument/2006/customXml" ds:itemID="{2ACAD0A9-436B-4F2F-BCC1-3B34C93CDDE4}"/>
</file>

<file path=docMetadata/LabelInfo.xml><?xml version="1.0" encoding="utf-8"?>
<clbl:labelList xmlns:clbl="http://schemas.microsoft.com/office/2020/mipLabelMetadata">
  <clbl:label id="{72fe835d-5e95-4512-8ae0-a7b38af25fc8}" enabled="0" method="" siteId="{72fe835d-5e95-4512-8ae0-a7b38af25fc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2309</Words>
  <Application>Microsoft Macintosh PowerPoint</Application>
  <PresentationFormat>ワイド画面</PresentationFormat>
  <Paragraphs>381</Paragraphs>
  <Slides>31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31</vt:i4>
      </vt:variant>
    </vt:vector>
  </HeadingPairs>
  <TitlesOfParts>
    <vt:vector size="35" baseType="lpstr">
      <vt:lpstr>Meiryo</vt:lpstr>
      <vt:lpstr>游ゴシック</vt:lpstr>
      <vt:lpstr>Arial</vt:lpstr>
      <vt:lpstr>Office テーマ</vt:lpstr>
      <vt:lpstr>大規模言語モデルの体験  第2回RAGシステム構築</vt:lpstr>
      <vt:lpstr>PowerPoint プレゼンテーション</vt:lpstr>
      <vt:lpstr>PowerPoint プレゼンテーション</vt:lpstr>
      <vt:lpstr>本日の目標</vt:lpstr>
      <vt:lpstr>前回の復習</vt:lpstr>
      <vt:lpstr>LLMの限界</vt:lpstr>
      <vt:lpstr>なぜ答えられないのか？</vt:lpstr>
      <vt:lpstr>RAG（Retrieval-Augmented Generation）</vt:lpstr>
      <vt:lpstr>RAGの利点</vt:lpstr>
      <vt:lpstr>RAGシステムの構造</vt:lpstr>
      <vt:lpstr>ベクトル検索</vt:lpstr>
      <vt:lpstr>ベクトルで文章を表現</vt:lpstr>
      <vt:lpstr>類似度の計算</vt:lpstr>
      <vt:lpstr>実装の手順書</vt:lpstr>
      <vt:lpstr>ベクトル検索システム</vt:lpstr>
      <vt:lpstr>ステップ1: 既存ファイルの確認</vt:lpstr>
      <vt:lpstr>ステップ2 - サンプル文書確認</vt:lpstr>
      <vt:lpstr>ステップ3 - ベクトル検索エンジン VectorSearchEngine クラス</vt:lpstr>
      <vt:lpstr>ステップ3 - ベクトル検索エンジン 追加コード: 検索機能</vt:lpstr>
      <vt:lpstr>ステップ3 - ベクトル検索エンジン 追加コード: コサイン類似度計算</vt:lpstr>
      <vt:lpstr>ステップ4: ベクトル検索のテスト</vt:lpstr>
      <vt:lpstr>ステップ5 - RAGシステム RAGSystem クラス</vt:lpstr>
      <vt:lpstr>ステップ5 - RAGシステム コード: クエリ処理</vt:lpstr>
      <vt:lpstr>ステップ5 - RAGシステム コード: コンテキスト構築</vt:lpstr>
      <vt:lpstr>ステップ6 - UI作成</vt:lpstr>
      <vt:lpstr>ステップ7 - メインアプリ</vt:lpstr>
      <vt:lpstr>実習課題</vt:lpstr>
      <vt:lpstr>実習課題1: 文書の追加・編集</vt:lpstr>
      <vt:lpstr>実習課題2: 検索結果の改善</vt:lpstr>
      <vt:lpstr>実習課題３: RAG vs 通常LLMの比較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森田 海_福井</dc:creator>
  <cp:lastModifiedBy>森田 海_福井</cp:lastModifiedBy>
  <cp:revision>2</cp:revision>
  <dcterms:created xsi:type="dcterms:W3CDTF">2025-10-06T02:16:54Z</dcterms:created>
  <dcterms:modified xsi:type="dcterms:W3CDTF">2025-10-14T04:04:02Z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0x0101009B93D0FD6C4F094F9F93517D4C735504</vt:lpwstr>
  </property>
</Properties>
</file>