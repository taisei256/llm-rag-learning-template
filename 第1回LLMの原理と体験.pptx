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4"/>
  </p:notesMasterIdLst>
  <p:sldIdLst>
    <p:sldId id="256" r:id="rId5"/>
    <p:sldId id="279" r:id="rId6"/>
    <p:sldId id="276" r:id="rId7"/>
    <p:sldId id="257" r:id="rId8"/>
    <p:sldId id="271" r:id="rId9"/>
    <p:sldId id="259" r:id="rId10"/>
    <p:sldId id="260" r:id="rId11"/>
    <p:sldId id="261" r:id="rId12"/>
    <p:sldId id="263" r:id="rId13"/>
    <p:sldId id="264" r:id="rId14"/>
    <p:sldId id="265" r:id="rId15"/>
    <p:sldId id="266" r:id="rId16"/>
    <p:sldId id="262" r:id="rId17"/>
    <p:sldId id="273" r:id="rId18"/>
    <p:sldId id="274" r:id="rId19"/>
    <p:sldId id="275" r:id="rId20"/>
    <p:sldId id="278" r:id="rId21"/>
    <p:sldId id="277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68" r:id="rId30"/>
    <p:sldId id="267" r:id="rId31"/>
    <p:sldId id="269" r:id="rId32"/>
    <p:sldId id="270" r:id="rId3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74CF4B-0799-42E6-8232-FDC537F1E19A}" v="2" dt="2025-10-06T04:49:23.367"/>
    <p1510:client id="{E6E1266A-CB75-5247-B7F5-B5D759EF6CC4}" v="28" dt="2025-10-06T03:44:29.0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60"/>
    <p:restoredTop sz="94698"/>
  </p:normalViewPr>
  <p:slideViewPr>
    <p:cSldViewPr snapToGrid="0" showGuides="1">
      <p:cViewPr varScale="1">
        <p:scale>
          <a:sx n="62" d="100"/>
          <a:sy n="62" d="100"/>
        </p:scale>
        <p:origin x="232" y="11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山本 大誠_福井" userId="S::s58537ty@fukui-nct.ac.jp::7d62a71e-f699-413d-9d97-98933f879bcf" providerId="AD" clId="Web-{8B74CF4B-0799-42E6-8232-FDC537F1E19A}"/>
    <pc:docChg chg="addSld delSld">
      <pc:chgData name="山本 大誠_福井" userId="S::s58537ty@fukui-nct.ac.jp::7d62a71e-f699-413d-9d97-98933f879bcf" providerId="AD" clId="Web-{8B74CF4B-0799-42E6-8232-FDC537F1E19A}" dt="2025-10-06T04:49:23.367" v="1"/>
      <pc:docMkLst>
        <pc:docMk/>
      </pc:docMkLst>
      <pc:sldChg chg="new del">
        <pc:chgData name="山本 大誠_福井" userId="S::s58537ty@fukui-nct.ac.jp::7d62a71e-f699-413d-9d97-98933f879bcf" providerId="AD" clId="Web-{8B74CF4B-0799-42E6-8232-FDC537F1E19A}" dt="2025-10-06T04:49:23.367" v="1"/>
        <pc:sldMkLst>
          <pc:docMk/>
          <pc:sldMk cId="3459034855" sldId="28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29A130-F3D0-CD47-B241-AE1941E0B9B3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C66A1D-A45E-2842-B29C-6F28B599D6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5742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66A1D-A45E-2842-B29C-6F28B599D65E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0333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83B71E-430F-55C2-A11F-64E37076FC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i="0"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2E589FD-8A6D-0398-78CA-06F0FD5E1C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0" i="0"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7FEF7E-7BE0-99C6-B27F-E0E48C384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fld id="{6161FED8-555B-AE4A-8575-C375E69FA1C8}" type="datetimeFigureOut">
              <a:rPr lang="ja-JP" altLang="en-US" smtClean="0"/>
              <a:pPr/>
              <a:t>2025/10/5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FDFDE9-7D80-FB05-1997-F97281BC5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EDAC8A-9158-E9C2-96B5-784B745A2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fld id="{E081CC53-311A-C34B-9AC1-8FB7B484F70D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765348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CABD03-DEFC-7A68-8723-94EAAA3C8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1FBAC89-F82D-2F3B-C3EF-727F3DF85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3A397B-AFC1-067C-C67E-FE09A98DE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1FED8-555B-AE4A-8575-C375E69FA1C8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4CD302-7BAC-7FE4-3248-68EBAC362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CB32BC-EC1F-66D3-851B-254E1AA55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CC53-311A-C34B-9AC1-8FB7B484F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7682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CD9E1D-28D3-B6DF-F237-3A623D882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D57C3B3-5692-32D1-05CD-CF4DDD615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597E95-9428-6AC3-949E-0FD866CCE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1FED8-555B-AE4A-8575-C375E69FA1C8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4DC103-1DDA-CAD3-558B-90462EDA2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51DA14-D8F2-37E4-B782-52C300D6E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CC53-311A-C34B-9AC1-8FB7B484F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54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7D792A-A2AA-2AD7-C858-CE4677D0A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5F6494-628C-5466-F1E3-26B3FB30FD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03AF5D5-E1E3-8F7C-01ED-745DDE25AB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8B69D20-383B-41EC-90AC-B63D91635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1FED8-555B-AE4A-8575-C375E69FA1C8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1CB3AF0-6B34-6B8D-CC77-E9DAB8DBE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CA6FC27-F82A-9722-C512-0001F689A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CC53-311A-C34B-9AC1-8FB7B484F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276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93360D-94F7-05C9-65FB-F3321DFDE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54933C8-F797-5373-52E2-98A8D2652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E9D2E6A-2072-BBED-6DA1-7184EB944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5124AE9-5701-EC0B-6676-92357A1533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7FDDB9B-37B1-20D4-1486-6B1CF079DE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BFF3BF5-2144-FA0E-4551-DC676902B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1FED8-555B-AE4A-8575-C375E69FA1C8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3DAC916-5721-A7E5-DB71-3FB0A6DD5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E839736-3F47-3204-4683-B81A70F92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CC53-311A-C34B-9AC1-8FB7B484F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5377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387602-E415-E693-09C8-D28F77F6F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821EE21-AD96-E15B-A88A-504B3336D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1FED8-555B-AE4A-8575-C375E69FA1C8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AC1A86B-07DF-3877-7DB2-3228D0AC1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13932A5-F467-1D38-0787-9F2863C47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CC53-311A-C34B-9AC1-8FB7B484F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0638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DF44080-EB6F-3222-C144-F1416FB0E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1FED8-555B-AE4A-8575-C375E69FA1C8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CC7737A-CEEF-633F-23F0-58114B959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28BFC9B-1F42-188C-92C0-D39F4EB01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CC53-311A-C34B-9AC1-8FB7B484F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9356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0C41F8-07FC-54C1-653F-49AB7A2E1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BEEA622-457A-567C-89A0-D13525165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141D628-B7F9-E946-2E2A-18582FA4A3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F172749-13C7-BCEF-9FCA-890FB24A0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1FED8-555B-AE4A-8575-C375E69FA1C8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CBDE98E-7589-4F59-8DF3-97921837E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650DCCD-9004-346A-2E8D-38FF10655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CC53-311A-C34B-9AC1-8FB7B484F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4689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04533A-DBDF-C4DA-60EE-B82804401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76AE9B6-E6F5-27AE-E3C3-5D5DB9B0C6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36B92FB-9E6E-73D4-EBBB-947A05FADC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4617C33-3598-9C65-C245-562E34737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1FED8-555B-AE4A-8575-C375E69FA1C8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C76053D-E650-DF3B-5B49-2FFE43FDC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13B30AC-8736-10B4-843A-770E76774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CC53-311A-C34B-9AC1-8FB7B484F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6812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FAAD98-8075-B0CB-D7EE-76CE5B5A6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349BA63-8523-FE9C-8891-6BF389C826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BB0ED54-CAC5-1CA4-09C2-8CF2F80A6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1FED8-555B-AE4A-8575-C375E69FA1C8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EAE27B-23DC-46C0-8026-95C7C811E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62EDE1-94CA-7121-AD94-C79643D46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CC53-311A-C34B-9AC1-8FB7B484F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000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3203A59-D8EE-EDD3-4952-B748DE2F72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B5CEB42-51BD-DFFA-A184-7668D8F16A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662EB47-B2DB-04DD-3510-7D08C3C41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1FED8-555B-AE4A-8575-C375E69FA1C8}" type="datetimeFigureOut">
              <a:rPr kumimoji="1" lang="ja-JP" altLang="en-US" smtClean="0"/>
              <a:t>2025/10/5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89E637-E6CF-D668-EEB9-1BD669225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AF5524-C774-CD62-169C-B680968CC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CC53-311A-C34B-9AC1-8FB7B484F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445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87C782B-9E09-D1C1-4A96-3FFA76DC2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714E93D-C796-D0F8-F1D8-6009B68AC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D7CC3BC-B227-D7B5-31C1-F4323591B4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fld id="{6161FED8-555B-AE4A-8575-C375E69FA1C8}" type="datetimeFigureOut">
              <a:rPr lang="ja-JP" altLang="en-US" smtClean="0"/>
              <a:pPr/>
              <a:t>2025/10/5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C46B96-3348-86E3-00CA-FECF7441D7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3108CB9-959A-6ECB-9D41-4661BB025E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fld id="{E081CC53-311A-C34B-9AC1-8FB7B484F70D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96725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1" i="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b="0" i="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b="0" i="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b="0" i="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b="0" i="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b="0" i="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llm-education-proxy.vercel.app/api/admin/usage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llm-education-proxy.vercel.app/api/admin/usage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A4E40A-9F89-0705-3522-D13B9D16CA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59809"/>
            <a:ext cx="9144000" cy="2650154"/>
          </a:xfrm>
        </p:spPr>
        <p:txBody>
          <a:bodyPr>
            <a:normAutofit/>
          </a:bodyPr>
          <a:lstStyle/>
          <a:p>
            <a:r>
              <a:rPr kumimoji="1" lang="ja-JP" altLang="en-US" sz="4800"/>
              <a:t>大規模言語モデルの体験</a:t>
            </a:r>
            <a:br>
              <a:rPr kumimoji="1" lang="en-US" altLang="ja-JP" sz="4800" dirty="0"/>
            </a:br>
            <a:br>
              <a:rPr kumimoji="1" lang="en-US" altLang="ja-JP" dirty="0"/>
            </a:br>
            <a:r>
              <a:rPr kumimoji="1" lang="ja-JP" altLang="en-US"/>
              <a:t>第</a:t>
            </a:r>
            <a:r>
              <a:rPr kumimoji="1" lang="en-US" altLang="ja-JP" dirty="0"/>
              <a:t>1</a:t>
            </a:r>
            <a:r>
              <a:rPr kumimoji="1" lang="ja-JP" altLang="en-US"/>
              <a:t>回</a:t>
            </a:r>
            <a:r>
              <a:rPr lang="en-US" altLang="ja-JP" dirty="0"/>
              <a:t>LLM</a:t>
            </a:r>
            <a:r>
              <a:rPr lang="ja-JP" altLang="en-US"/>
              <a:t>原理と体験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8BBAEB4-BED8-3CB5-BB24-179F4D4286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30806"/>
            <a:ext cx="9144000" cy="1767384"/>
          </a:xfrm>
        </p:spPr>
        <p:txBody>
          <a:bodyPr/>
          <a:lstStyle/>
          <a:p>
            <a:r>
              <a:rPr lang="ja-JP" altLang="en-US" b="1"/>
              <a:t>日時</a:t>
            </a:r>
            <a:r>
              <a:rPr lang="en-US" altLang="ja-JP" dirty="0"/>
              <a:t>: 2025/10/06</a:t>
            </a:r>
            <a:br>
              <a:rPr lang="en-US" altLang="ja-JP" dirty="0"/>
            </a:br>
            <a:r>
              <a:rPr lang="ja-JP" altLang="en-US" b="1"/>
              <a:t>場所</a:t>
            </a:r>
            <a:r>
              <a:rPr lang="en-US" altLang="ja-JP" dirty="0"/>
              <a:t>: </a:t>
            </a:r>
            <a:r>
              <a:rPr lang="ja-JP" altLang="en-US"/>
              <a:t>専攻科講義室</a:t>
            </a:r>
            <a:r>
              <a:rPr lang="en-US" altLang="ja-JP" dirty="0"/>
              <a:t>1</a:t>
            </a:r>
            <a:br>
              <a:rPr lang="en-US" altLang="ja-JP" dirty="0"/>
            </a:br>
            <a:r>
              <a:rPr lang="ja-JP" altLang="en-US" b="1"/>
              <a:t>授業時間</a:t>
            </a:r>
            <a:r>
              <a:rPr lang="en-US" altLang="ja-JP" dirty="0"/>
              <a:t>: 180</a:t>
            </a:r>
            <a:r>
              <a:rPr lang="ja-JP" altLang="en-US"/>
              <a:t>分</a:t>
            </a:r>
            <a:br>
              <a:rPr lang="ja-JP" altLang="en-US"/>
            </a:br>
            <a:r>
              <a:rPr lang="ja-JP" altLang="en-US" b="1"/>
              <a:t>担当教員</a:t>
            </a:r>
            <a:r>
              <a:rPr lang="en-US" altLang="ja-JP" dirty="0"/>
              <a:t>: </a:t>
            </a:r>
            <a:r>
              <a:rPr lang="ja-JP" altLang="en-US"/>
              <a:t>森田海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133640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73899B1-62EC-D5DC-F2EB-9511B15E7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55" y="1907956"/>
            <a:ext cx="5603285" cy="3312253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FEC16A52-32ED-8D0A-DF66-EEBA2C54A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897" y="1826409"/>
            <a:ext cx="5199797" cy="320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925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D8563C-838A-2542-FDF1-A5971BC9F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757055" cy="1325563"/>
          </a:xfrm>
        </p:spPr>
        <p:txBody>
          <a:bodyPr/>
          <a:lstStyle/>
          <a:p>
            <a:r>
              <a:rPr kumimoji="1" lang="ja-JP" altLang="en-US"/>
              <a:t>参考文献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C866E03-4B27-0EC0-84DE-FC1D5A68F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830" y="0"/>
            <a:ext cx="77067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718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9E6F51-8945-ECDC-479C-65B3BF7CA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本日の目標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1BDA93D-C5D7-2575-67DF-34325A77A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ja-JP" b="1" dirty="0"/>
              <a:t>GitHub</a:t>
            </a:r>
            <a:r>
              <a:rPr lang="ja-JP" altLang="en-US" b="1"/>
              <a:t>環境をセットアップ</a:t>
            </a:r>
            <a:r>
              <a:rPr lang="ja-JP" altLang="en-US"/>
              <a:t>する 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b="1"/>
              <a:t>動くチャットシステム</a:t>
            </a:r>
            <a:r>
              <a:rPr lang="ja-JP" altLang="en-US"/>
              <a:t>を作る </a:t>
            </a:r>
            <a:r>
              <a:rPr lang="ja-JP" altLang="en-US" b="1"/>
              <a:t>教育用</a:t>
            </a:r>
            <a:r>
              <a:rPr lang="en-US" altLang="ja-JP" b="1" dirty="0"/>
              <a:t>API</a:t>
            </a:r>
            <a:r>
              <a:rPr lang="ja-JP" altLang="en-US"/>
              <a:t>を使った開発を体験する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en-US" altLang="ja-JP" b="1" dirty="0"/>
              <a:t>LLM</a:t>
            </a:r>
            <a:r>
              <a:rPr lang="ja-JP" altLang="en-US" b="1"/>
              <a:t>とは何か</a:t>
            </a:r>
            <a:r>
              <a:rPr lang="ja-JP" altLang="en-US"/>
              <a:t>を理解する 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en-US" altLang="ja-JP" b="1" dirty="0"/>
              <a:t>Transformer</a:t>
            </a:r>
            <a:r>
              <a:rPr lang="ja-JP" altLang="en-US" b="1"/>
              <a:t>の仕組み</a:t>
            </a:r>
            <a:r>
              <a:rPr lang="ja-JP" altLang="en-US"/>
              <a:t>を学ぶ 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b="1"/>
              <a:t>実践体験</a:t>
            </a:r>
          </a:p>
        </p:txBody>
      </p:sp>
    </p:spTree>
    <p:extLst>
      <p:ext uri="{BB962C8B-B14F-4D97-AF65-F5344CB8AC3E}">
        <p14:creationId xmlns:p14="http://schemas.microsoft.com/office/powerpoint/2010/main" val="3025677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49DBC-92FD-E52F-75FB-9E295BE19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A0F45C-E484-6B31-74BF-6C773618D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722" y="2766218"/>
            <a:ext cx="10515600" cy="1325563"/>
          </a:xfrm>
        </p:spPr>
        <p:txBody>
          <a:bodyPr/>
          <a:lstStyle/>
          <a:p>
            <a:r>
              <a:rPr kumimoji="1" lang="ja-JP" altLang="en-US"/>
              <a:t>手順書</a:t>
            </a:r>
          </a:p>
        </p:txBody>
      </p:sp>
    </p:spTree>
    <p:extLst>
      <p:ext uri="{BB962C8B-B14F-4D97-AF65-F5344CB8AC3E}">
        <p14:creationId xmlns:p14="http://schemas.microsoft.com/office/powerpoint/2010/main" val="898247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E4B13B-1928-EF9C-74A4-F377FB595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必要な環境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6F24E2-769A-0E31-75DA-F145CE154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b="1"/>
              <a:t>準備しておくもの</a:t>
            </a:r>
          </a:p>
          <a:p>
            <a:pPr lvl="1"/>
            <a:r>
              <a:rPr lang="en-US" altLang="ja-JP" dirty="0"/>
              <a:t>VS Code </a:t>
            </a:r>
            <a:r>
              <a:rPr lang="ja-JP" altLang="en-US"/>
              <a:t>インストール</a:t>
            </a:r>
          </a:p>
          <a:p>
            <a:pPr lvl="1"/>
            <a:r>
              <a:rPr lang="en-US" altLang="ja-JP" dirty="0"/>
              <a:t>Live Server </a:t>
            </a:r>
            <a:r>
              <a:rPr lang="ja-JP" altLang="en-US"/>
              <a:t>拡張機能インストール</a:t>
            </a:r>
          </a:p>
          <a:p>
            <a:pPr lvl="1"/>
            <a:r>
              <a:rPr lang="en-US" altLang="ja-JP" dirty="0"/>
              <a:t>GitHub</a:t>
            </a:r>
            <a:r>
              <a:rPr lang="ja-JP" altLang="en-US"/>
              <a:t>アカウント作成（別紙参照）</a:t>
            </a:r>
          </a:p>
          <a:p>
            <a:pPr lvl="1"/>
            <a:r>
              <a:rPr lang="en-US" altLang="ja-JP" dirty="0"/>
              <a:t>GitHub</a:t>
            </a:r>
            <a:r>
              <a:rPr lang="ja-JP" altLang="en-US"/>
              <a:t>テンプレートのフォーク（別紙参照）</a:t>
            </a:r>
            <a:endParaRPr lang="ja-JP" altLang="en-US" b="1"/>
          </a:p>
          <a:p>
            <a:pPr lvl="2"/>
            <a:r>
              <a:rPr lang="ja-JP" altLang="en-US"/>
              <a:t>→ </a:t>
            </a:r>
            <a:r>
              <a:rPr lang="ja-JP" altLang="en-US" b="1"/>
              <a:t>「</a:t>
            </a:r>
            <a:r>
              <a:rPr lang="en-US" altLang="ja-JP" b="1" dirty="0"/>
              <a:t>GitHub</a:t>
            </a:r>
            <a:r>
              <a:rPr lang="ja-JP" altLang="en-US" b="1"/>
              <a:t>事前準備ガイド」を参照</a:t>
            </a:r>
            <a:endParaRPr lang="ja-JP" altLang="en-US"/>
          </a:p>
          <a:p>
            <a:r>
              <a:rPr lang="ja-JP" altLang="en-US" b="1"/>
              <a:t>設定情報</a:t>
            </a:r>
          </a:p>
          <a:p>
            <a:pPr lvl="1"/>
            <a:r>
              <a:rPr lang="en-US" altLang="ja-JP" dirty="0"/>
              <a:t>API URL: https://</a:t>
            </a:r>
            <a:r>
              <a:rPr lang="en-US" altLang="ja-JP" b="0" u="sng" dirty="0">
                <a:effectLst/>
                <a:hlinkClick r:id="rId2"/>
              </a:rPr>
              <a:t>llm-education-proxy.vercel.app</a:t>
            </a:r>
            <a:r>
              <a:rPr lang="en-US" altLang="ja-JP" dirty="0"/>
              <a:t>​</a:t>
            </a:r>
          </a:p>
          <a:p>
            <a:pPr lvl="1"/>
            <a:r>
              <a:rPr lang="ja-JP" altLang="en-US"/>
              <a:t>学生</a:t>
            </a:r>
            <a:r>
              <a:rPr lang="en-US" altLang="ja-JP" dirty="0"/>
              <a:t>ID: </a:t>
            </a:r>
            <a:r>
              <a:rPr lang="en-US" altLang="ja-JP" dirty="0" err="1"/>
              <a:t>student_XX</a:t>
            </a:r>
            <a:r>
              <a:rPr lang="en-US" altLang="ja-JP" dirty="0"/>
              <a:t> </a:t>
            </a:r>
            <a:r>
              <a:rPr lang="ja-JP" altLang="en-US"/>
              <a:t>（</a:t>
            </a:r>
            <a:r>
              <a:rPr lang="en-US" altLang="ja-JP" dirty="0"/>
              <a:t>XX</a:t>
            </a:r>
            <a:r>
              <a:rPr lang="ja-JP" altLang="en-US"/>
              <a:t>に出席番号．例．</a:t>
            </a:r>
            <a:r>
              <a:rPr lang="en-US" altLang="ja-JP" dirty="0"/>
              <a:t>student_01</a:t>
            </a:r>
            <a:r>
              <a:rPr lang="ja-JP" altLang="en-US"/>
              <a:t>）</a:t>
            </a:r>
          </a:p>
          <a:p>
            <a:pPr marL="0" indent="0">
              <a:buNone/>
            </a:pP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4763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5675DC-FB88-7E5F-CB12-ABE55A93A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キーワード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8AED5D-C51C-7D05-4980-15B1F319D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75426"/>
          </a:xfrm>
        </p:spPr>
        <p:txBody>
          <a:bodyPr>
            <a:normAutofit fontScale="92500" lnSpcReduction="10000"/>
          </a:bodyPr>
          <a:lstStyle/>
          <a:p>
            <a:r>
              <a:rPr lang="en-US" altLang="ja-JP" b="1" dirty="0"/>
              <a:t>LLM (Large Language Model)</a:t>
            </a:r>
          </a:p>
          <a:p>
            <a:pPr lvl="1"/>
            <a:r>
              <a:rPr lang="ja-JP" altLang="en-US"/>
              <a:t>大規模言語モデル</a:t>
            </a:r>
          </a:p>
          <a:p>
            <a:pPr lvl="1"/>
            <a:r>
              <a:rPr lang="ja-JP" altLang="en-US"/>
              <a:t>大量のテキストから学習した</a:t>
            </a:r>
            <a:r>
              <a:rPr lang="en-US" altLang="ja-JP" dirty="0"/>
              <a:t>AI</a:t>
            </a:r>
          </a:p>
          <a:p>
            <a:pPr lvl="1"/>
            <a:r>
              <a:rPr lang="en-US" altLang="ja-JP" dirty="0"/>
              <a:t>ChatGPT</a:t>
            </a:r>
            <a:r>
              <a:rPr lang="ja-JP" altLang="en-US"/>
              <a:t>、</a:t>
            </a:r>
            <a:r>
              <a:rPr lang="en-US" altLang="ja-JP" dirty="0"/>
              <a:t>Claude</a:t>
            </a:r>
            <a:r>
              <a:rPr lang="ja-JP" altLang="en-US"/>
              <a:t>、</a:t>
            </a:r>
            <a:r>
              <a:rPr lang="en-US" altLang="ja-JP" dirty="0"/>
              <a:t>Gemini</a:t>
            </a:r>
            <a:r>
              <a:rPr lang="ja-JP" altLang="en-US"/>
              <a:t>など</a:t>
            </a:r>
          </a:p>
          <a:p>
            <a:r>
              <a:rPr lang="en-US" altLang="ja-JP" b="1" dirty="0"/>
              <a:t>Transformer</a:t>
            </a:r>
          </a:p>
          <a:p>
            <a:pPr lvl="1"/>
            <a:r>
              <a:rPr lang="en-US" altLang="ja-JP" dirty="0"/>
              <a:t>LLM</a:t>
            </a:r>
            <a:r>
              <a:rPr lang="ja-JP" altLang="en-US"/>
              <a:t>の中核技術（</a:t>
            </a:r>
            <a:r>
              <a:rPr lang="en-US" altLang="ja-JP" dirty="0"/>
              <a:t>2017</a:t>
            </a:r>
            <a:r>
              <a:rPr lang="ja-JP" altLang="en-US"/>
              <a:t>年発表）</a:t>
            </a:r>
          </a:p>
          <a:p>
            <a:pPr lvl="1"/>
            <a:r>
              <a:rPr lang="ja-JP" altLang="en-US"/>
              <a:t>注意機構（</a:t>
            </a:r>
            <a:r>
              <a:rPr lang="en-US" altLang="ja-JP" dirty="0"/>
              <a:t>Attention</a:t>
            </a:r>
            <a:r>
              <a:rPr lang="ja-JP" altLang="en-US"/>
              <a:t>）を使用</a:t>
            </a:r>
          </a:p>
          <a:p>
            <a:pPr lvl="1"/>
            <a:r>
              <a:rPr lang="ja-JP" altLang="en-US"/>
              <a:t>文章の関係性を理解</a:t>
            </a:r>
          </a:p>
          <a:p>
            <a:r>
              <a:rPr lang="ja-JP" altLang="en-US" b="1"/>
              <a:t>注意機構（</a:t>
            </a:r>
            <a:r>
              <a:rPr lang="en-US" altLang="ja-JP" b="1" dirty="0"/>
              <a:t>Attention</a:t>
            </a:r>
            <a:r>
              <a:rPr lang="ja-JP" altLang="en-US" b="1"/>
              <a:t>）</a:t>
            </a:r>
          </a:p>
          <a:p>
            <a:pPr lvl="1"/>
            <a:r>
              <a:rPr lang="en-US" altLang="ja-JP" dirty="0"/>
              <a:t>Q (Query): </a:t>
            </a:r>
            <a:r>
              <a:rPr lang="ja-JP" altLang="en-US"/>
              <a:t>何を探しているか</a:t>
            </a:r>
          </a:p>
          <a:p>
            <a:pPr lvl="1"/>
            <a:r>
              <a:rPr lang="en-US" altLang="ja-JP" dirty="0"/>
              <a:t>K (Key): </a:t>
            </a:r>
            <a:r>
              <a:rPr lang="ja-JP" altLang="en-US"/>
              <a:t>何を持っているか</a:t>
            </a:r>
          </a:p>
          <a:p>
            <a:pPr lvl="1"/>
            <a:r>
              <a:rPr lang="en-US" altLang="ja-JP" dirty="0"/>
              <a:t>V (Value): </a:t>
            </a:r>
            <a:r>
              <a:rPr lang="ja-JP" altLang="en-US"/>
              <a:t>実際の情報</a:t>
            </a:r>
          </a:p>
          <a:p>
            <a:pPr lvl="1"/>
            <a:r>
              <a:rPr lang="ja-JP" altLang="en-US"/>
              <a:t>数式</a:t>
            </a:r>
            <a:r>
              <a:rPr lang="en-US" altLang="ja-JP" dirty="0"/>
              <a:t>: Attention(Q,K,V) = </a:t>
            </a:r>
            <a:r>
              <a:rPr lang="en-US" altLang="ja-JP" dirty="0" err="1"/>
              <a:t>softmax</a:t>
            </a:r>
            <a:r>
              <a:rPr lang="en-US" altLang="ja-JP" dirty="0"/>
              <a:t>(QK^T/√</a:t>
            </a:r>
            <a:r>
              <a:rPr lang="en-US" altLang="ja-JP" dirty="0" err="1"/>
              <a:t>d_k</a:t>
            </a:r>
            <a:r>
              <a:rPr lang="en-US" altLang="ja-JP" dirty="0"/>
              <a:t>)V</a:t>
            </a:r>
          </a:p>
          <a:p>
            <a:pPr marL="0" indent="0">
              <a:buNone/>
            </a:pP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397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C2FE2D-BC78-B5BA-4BC4-B841127A6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ステップ</a:t>
            </a:r>
            <a:r>
              <a:rPr lang="en-US" altLang="ja-JP" dirty="0"/>
              <a:t>1: </a:t>
            </a:r>
            <a:r>
              <a:rPr lang="ja-JP" altLang="en-US"/>
              <a:t>プロジェクト確認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D4BC79-A117-AFD4-6AD2-F69FCCEE7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ja-JP" dirty="0" err="1"/>
              <a:t>llm</a:t>
            </a:r>
            <a:r>
              <a:rPr kumimoji="1" lang="en-US" altLang="ja-JP" dirty="0"/>
              <a:t>-rag-learning-template/</a:t>
            </a:r>
          </a:p>
          <a:p>
            <a:pPr marL="0" indent="0">
              <a:buNone/>
            </a:pPr>
            <a:r>
              <a:rPr kumimoji="1" lang="en-US" altLang="ja-JP" dirty="0"/>
              <a:t>├── </a:t>
            </a:r>
            <a:r>
              <a:rPr kumimoji="1" lang="en-US" altLang="ja-JP" dirty="0" err="1"/>
              <a:t>index.html</a:t>
            </a:r>
            <a:r>
              <a:rPr kumimoji="1" lang="en-US" altLang="ja-JP" dirty="0"/>
              <a:t>        ← </a:t>
            </a:r>
            <a:r>
              <a:rPr kumimoji="1" lang="ja-JP" altLang="en-US"/>
              <a:t>メインページ</a:t>
            </a:r>
          </a:p>
          <a:p>
            <a:pPr marL="0" indent="0">
              <a:buNone/>
            </a:pPr>
            <a:r>
              <a:rPr kumimoji="1" lang="ja-JP" altLang="en-US"/>
              <a:t>├── </a:t>
            </a:r>
            <a:r>
              <a:rPr kumimoji="1" lang="en-US" altLang="ja-JP" dirty="0" err="1"/>
              <a:t>js</a:t>
            </a:r>
            <a:r>
              <a:rPr kumimoji="1" lang="en-US" altLang="ja-JP" dirty="0"/>
              <a:t>/</a:t>
            </a:r>
          </a:p>
          <a:p>
            <a:pPr marL="0" indent="0">
              <a:buNone/>
            </a:pPr>
            <a:r>
              <a:rPr kumimoji="1" lang="en-US" altLang="ja-JP" dirty="0"/>
              <a:t>│   ├── </a:t>
            </a:r>
            <a:r>
              <a:rPr kumimoji="1" lang="en-US" altLang="ja-JP" dirty="0" err="1"/>
              <a:t>config.js</a:t>
            </a:r>
            <a:r>
              <a:rPr kumimoji="1" lang="en-US" altLang="ja-JP" dirty="0"/>
              <a:t>    ← </a:t>
            </a:r>
            <a:r>
              <a:rPr kumimoji="1" lang="ja-JP" altLang="en-US"/>
              <a:t>設定ファイル（編集する）</a:t>
            </a:r>
          </a:p>
          <a:p>
            <a:pPr marL="0" indent="0">
              <a:buNone/>
            </a:pPr>
            <a:r>
              <a:rPr kumimoji="1" lang="ja-JP" altLang="en-US"/>
              <a:t>│   ├── </a:t>
            </a:r>
            <a:r>
              <a:rPr kumimoji="1" lang="en-US" altLang="ja-JP" dirty="0" err="1"/>
              <a:t>llm-client.js</a:t>
            </a:r>
            <a:r>
              <a:rPr kumimoji="1" lang="en-US" altLang="ja-JP" dirty="0"/>
              <a:t> ← API</a:t>
            </a:r>
            <a:r>
              <a:rPr kumimoji="1" lang="ja-JP" altLang="en-US"/>
              <a:t>通信</a:t>
            </a:r>
          </a:p>
          <a:p>
            <a:pPr marL="0" indent="0">
              <a:buNone/>
            </a:pPr>
            <a:r>
              <a:rPr kumimoji="1" lang="ja-JP" altLang="en-US"/>
              <a:t>│   └── </a:t>
            </a:r>
            <a:r>
              <a:rPr kumimoji="1" lang="en-US" altLang="ja-JP" dirty="0" err="1"/>
              <a:t>app.js</a:t>
            </a:r>
            <a:r>
              <a:rPr kumimoji="1" lang="en-US" altLang="ja-JP" dirty="0"/>
              <a:t>       ← </a:t>
            </a:r>
            <a:r>
              <a:rPr kumimoji="1" lang="ja-JP" altLang="en-US"/>
              <a:t>メイン処理</a:t>
            </a:r>
          </a:p>
          <a:p>
            <a:pPr marL="0" indent="0">
              <a:buNone/>
            </a:pPr>
            <a:r>
              <a:rPr kumimoji="1" lang="ja-JP" altLang="en-US"/>
              <a:t>├── </a:t>
            </a:r>
            <a:r>
              <a:rPr kumimoji="1" lang="en-US" altLang="ja-JP" dirty="0" err="1"/>
              <a:t>css</a:t>
            </a:r>
            <a:r>
              <a:rPr kumimoji="1" lang="en-US" altLang="ja-JP" dirty="0"/>
              <a:t>/</a:t>
            </a:r>
            <a:r>
              <a:rPr kumimoji="1" lang="en-US" altLang="ja-JP" dirty="0" err="1"/>
              <a:t>style.css</a:t>
            </a:r>
            <a:r>
              <a:rPr kumimoji="1" lang="en-US" altLang="ja-JP" dirty="0"/>
              <a:t>    ← </a:t>
            </a:r>
            <a:r>
              <a:rPr kumimoji="1" lang="ja-JP" altLang="en-US"/>
              <a:t>スタイル</a:t>
            </a:r>
          </a:p>
          <a:p>
            <a:pPr marL="0" indent="0">
              <a:buNone/>
            </a:pPr>
            <a:r>
              <a:rPr kumimoji="1" lang="ja-JP" altLang="en-US"/>
              <a:t>└── </a:t>
            </a:r>
            <a:r>
              <a:rPr kumimoji="1" lang="en-US" altLang="ja-JP" dirty="0"/>
              <a:t>data/            ← </a:t>
            </a:r>
            <a:r>
              <a:rPr kumimoji="1" lang="ja-JP" altLang="en-US"/>
              <a:t>データ格納</a:t>
            </a:r>
          </a:p>
        </p:txBody>
      </p:sp>
    </p:spTree>
    <p:extLst>
      <p:ext uri="{BB962C8B-B14F-4D97-AF65-F5344CB8AC3E}">
        <p14:creationId xmlns:p14="http://schemas.microsoft.com/office/powerpoint/2010/main" val="368263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A79B56-39D4-47F7-1179-1E2AE8A36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ステップ</a:t>
            </a:r>
            <a:r>
              <a:rPr lang="en-US" altLang="ja-JP" dirty="0"/>
              <a:t>2: </a:t>
            </a:r>
            <a:r>
              <a:rPr lang="ja-JP" altLang="en-US"/>
              <a:t>設定ファイル編集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CEE3154-045D-508D-F076-24A9CF1B3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ja-JP" dirty="0" err="1"/>
              <a:t>js</a:t>
            </a:r>
            <a:r>
              <a:rPr lang="en-US" altLang="ja-JP" dirty="0"/>
              <a:t>/</a:t>
            </a:r>
            <a:r>
              <a:rPr lang="en-US" altLang="ja-JP" dirty="0" err="1"/>
              <a:t>config.js</a:t>
            </a:r>
            <a:r>
              <a:rPr lang="en-US" altLang="ja-JP" dirty="0"/>
              <a:t> </a:t>
            </a:r>
            <a:r>
              <a:rPr lang="ja-JP" altLang="en-US"/>
              <a:t>を開いて編集：</a:t>
            </a:r>
            <a:endParaRPr lang="en-US" altLang="ja-JP" dirty="0"/>
          </a:p>
          <a:p>
            <a:pPr marL="0" indent="0">
              <a:buNone/>
            </a:pPr>
            <a:r>
              <a:rPr kumimoji="1" lang="en-US" altLang="ja-JP" dirty="0"/>
              <a:t>const API_CONFIG = {</a:t>
            </a:r>
          </a:p>
          <a:p>
            <a:pPr marL="0" indent="0">
              <a:buNone/>
            </a:pPr>
            <a:r>
              <a:rPr kumimoji="1" lang="en-US" altLang="ja-JP" dirty="0"/>
              <a:t>    </a:t>
            </a:r>
            <a:r>
              <a:rPr kumimoji="1" lang="en-US" altLang="ja-JP" dirty="0" err="1"/>
              <a:t>baseURL</a:t>
            </a:r>
            <a:r>
              <a:rPr kumimoji="1" lang="en-US" altLang="ja-JP" dirty="0"/>
              <a:t>: 'https://[</a:t>
            </a:r>
            <a:r>
              <a:rPr kumimoji="1" lang="ja-JP" altLang="en-US"/>
              <a:t>教員提供</a:t>
            </a:r>
            <a:r>
              <a:rPr kumimoji="1" lang="en-US" altLang="ja-JP" dirty="0"/>
              <a:t>URL]',  // ← </a:t>
            </a:r>
            <a:r>
              <a:rPr kumimoji="1" lang="ja-JP" altLang="en-US"/>
              <a:t>ここを変更</a:t>
            </a:r>
          </a:p>
          <a:p>
            <a:pPr marL="0" indent="0">
              <a:buNone/>
            </a:pPr>
            <a:r>
              <a:rPr kumimoji="1" lang="ja-JP" altLang="en-US"/>
              <a:t>    </a:t>
            </a:r>
            <a:r>
              <a:rPr kumimoji="1" lang="en-US" altLang="ja-JP" dirty="0" err="1"/>
              <a:t>studentId</a:t>
            </a:r>
            <a:r>
              <a:rPr kumimoji="1" lang="en-US" altLang="ja-JP" dirty="0"/>
              <a:t>: '</a:t>
            </a:r>
            <a:r>
              <a:rPr kumimoji="1" lang="en-US" altLang="ja-JP" dirty="0" err="1"/>
              <a:t>student_XXX</a:t>
            </a:r>
            <a:r>
              <a:rPr kumimoji="1" lang="en-US" altLang="ja-JP" dirty="0"/>
              <a:t>',          // ← </a:t>
            </a:r>
            <a:r>
              <a:rPr kumimoji="1" lang="ja-JP" altLang="en-US"/>
              <a:t>あなたの</a:t>
            </a:r>
            <a:r>
              <a:rPr kumimoji="1" lang="en-US" altLang="ja-JP" dirty="0"/>
              <a:t>ID</a:t>
            </a:r>
          </a:p>
          <a:p>
            <a:pPr marL="0" indent="0">
              <a:buNone/>
            </a:pPr>
            <a:r>
              <a:rPr kumimoji="1" lang="en-US" altLang="ja-JP" dirty="0"/>
              <a:t>    </a:t>
            </a:r>
            <a:r>
              <a:rPr kumimoji="1" lang="en-US" altLang="ja-JP" dirty="0" err="1"/>
              <a:t>defaultOptions</a:t>
            </a:r>
            <a:r>
              <a:rPr kumimoji="1" lang="en-US" altLang="ja-JP" dirty="0"/>
              <a:t>: {</a:t>
            </a:r>
          </a:p>
          <a:p>
            <a:pPr marL="0" indent="0">
              <a:buNone/>
            </a:pPr>
            <a:r>
              <a:rPr kumimoji="1" lang="en-US" altLang="ja-JP" dirty="0"/>
              <a:t>        temperature: 0.7,</a:t>
            </a:r>
          </a:p>
          <a:p>
            <a:pPr marL="0" indent="0">
              <a:buNone/>
            </a:pPr>
            <a:r>
              <a:rPr kumimoji="1" lang="en-US" altLang="ja-JP" dirty="0"/>
              <a:t>        </a:t>
            </a:r>
            <a:r>
              <a:rPr kumimoji="1" lang="en-US" altLang="ja-JP" dirty="0" err="1"/>
              <a:t>max_tokens</a:t>
            </a:r>
            <a:r>
              <a:rPr kumimoji="1" lang="en-US" altLang="ja-JP" dirty="0"/>
              <a:t>: 500</a:t>
            </a:r>
          </a:p>
          <a:p>
            <a:pPr marL="0" indent="0">
              <a:buNone/>
            </a:pPr>
            <a:r>
              <a:rPr kumimoji="1" lang="en-US" altLang="ja-JP" dirty="0"/>
              <a:t>    }</a:t>
            </a:r>
          </a:p>
          <a:p>
            <a:pPr marL="0" indent="0">
              <a:buNone/>
            </a:pPr>
            <a:r>
              <a:rPr kumimoji="1" lang="en-US" altLang="ja-JP" dirty="0"/>
              <a:t>};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DC09FC8-BED4-C543-861D-0B871CD4ADF7}"/>
              </a:ext>
            </a:extLst>
          </p:cNvPr>
          <p:cNvSpPr txBox="1"/>
          <p:nvPr/>
        </p:nvSpPr>
        <p:spPr>
          <a:xfrm>
            <a:off x="5195454" y="5576798"/>
            <a:ext cx="65582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/>
              <a:t>設定情報</a:t>
            </a:r>
          </a:p>
          <a:p>
            <a:pPr lvl="1"/>
            <a:r>
              <a:rPr lang="en-US" altLang="ja-JP" dirty="0"/>
              <a:t>API URL: https://</a:t>
            </a:r>
            <a:r>
              <a:rPr lang="en-US" altLang="ja-JP" b="0" u="sng" dirty="0">
                <a:effectLst/>
                <a:hlinkClick r:id="rId2"/>
              </a:rPr>
              <a:t>llm-education-proxy.vercel.app</a:t>
            </a:r>
            <a:r>
              <a:rPr lang="en-US" altLang="ja-JP" dirty="0"/>
              <a:t>​</a:t>
            </a:r>
          </a:p>
          <a:p>
            <a:pPr lvl="1"/>
            <a:r>
              <a:rPr lang="ja-JP" altLang="en-US"/>
              <a:t>学生</a:t>
            </a:r>
            <a:r>
              <a:rPr lang="en-US" altLang="ja-JP" dirty="0"/>
              <a:t>ID: </a:t>
            </a:r>
            <a:r>
              <a:rPr lang="en-US" altLang="ja-JP" dirty="0" err="1"/>
              <a:t>student_XX</a:t>
            </a:r>
            <a:r>
              <a:rPr lang="en-US" altLang="ja-JP" dirty="0"/>
              <a:t> </a:t>
            </a:r>
            <a:r>
              <a:rPr lang="ja-JP" altLang="en-US"/>
              <a:t>（</a:t>
            </a:r>
            <a:r>
              <a:rPr lang="en-US" altLang="ja-JP" dirty="0"/>
              <a:t>XX</a:t>
            </a:r>
            <a:r>
              <a:rPr lang="ja-JP" altLang="en-US"/>
              <a:t>に出席番号．例．</a:t>
            </a:r>
            <a:r>
              <a:rPr lang="en-US" altLang="ja-JP" dirty="0"/>
              <a:t>student_01</a:t>
            </a:r>
            <a:r>
              <a:rPr lang="ja-JP" altLang="en-US"/>
              <a:t>）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4141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EEC6ED-3BD8-A7B9-A53F-A1B054137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ステップ</a:t>
            </a:r>
            <a:r>
              <a:rPr lang="en-US" altLang="ja-JP" dirty="0"/>
              <a:t>3: Live Server</a:t>
            </a:r>
            <a:r>
              <a:rPr lang="ja-JP" altLang="en-US"/>
              <a:t>起動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16382D7-81A3-68C4-EF37-0FBF3027A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ja-JP" dirty="0"/>
              <a:t>VS Code</a:t>
            </a:r>
            <a:r>
              <a:rPr lang="ja-JP" altLang="en-US"/>
              <a:t>で </a:t>
            </a:r>
            <a:r>
              <a:rPr lang="en-US" altLang="ja-JP" dirty="0" err="1"/>
              <a:t>index.html</a:t>
            </a:r>
            <a:r>
              <a:rPr lang="en-US" altLang="ja-JP" dirty="0"/>
              <a:t> </a:t>
            </a:r>
            <a:r>
              <a:rPr lang="ja-JP" altLang="en-US"/>
              <a:t>を右クリック 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/>
              <a:t>「</a:t>
            </a:r>
            <a:r>
              <a:rPr lang="en-US" altLang="ja-JP" dirty="0"/>
              <a:t>Open with Live Server</a:t>
            </a:r>
            <a:r>
              <a:rPr lang="ja-JP" altLang="en-US"/>
              <a:t>」を選択 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/>
              <a:t>ブラウザが自動で開く</a:t>
            </a:r>
            <a:endParaRPr kumimoji="1" lang="ja-JP" altLang="en-US"/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AEB23254-1F93-E8A8-A22A-63713D0B7ABD}"/>
              </a:ext>
            </a:extLst>
          </p:cNvPr>
          <p:cNvSpPr txBox="1">
            <a:spLocks/>
          </p:cNvSpPr>
          <p:nvPr/>
        </p:nvSpPr>
        <p:spPr>
          <a:xfrm>
            <a:off x="838200" y="35639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b="1" i="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j-cs"/>
              </a:defRPr>
            </a:lvl1pPr>
          </a:lstStyle>
          <a:p>
            <a:r>
              <a:rPr lang="ja-JP" altLang="en-US"/>
              <a:t>ステップ</a:t>
            </a:r>
            <a:r>
              <a:rPr lang="en-US" altLang="ja-JP" dirty="0"/>
              <a:t>4: </a:t>
            </a:r>
            <a:r>
              <a:rPr lang="ja-JP" altLang="en-US"/>
              <a:t>動作確認</a:t>
            </a:r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3723A44C-F22D-E212-E5DA-C58BE9C302C9}"/>
              </a:ext>
            </a:extLst>
          </p:cNvPr>
          <p:cNvSpPr txBox="1">
            <a:spLocks/>
          </p:cNvSpPr>
          <p:nvPr/>
        </p:nvSpPr>
        <p:spPr>
          <a:xfrm>
            <a:off x="838200" y="5024437"/>
            <a:ext cx="10515600" cy="1603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b="0" i="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b="0" i="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b="0" i="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ja-JP" altLang="en-US"/>
              <a:t>入力欄に「こんにちは」と入力 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/>
              <a:t>「送信」ボタンをクリック 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en-US" altLang="ja-JP" dirty="0"/>
              <a:t>AI</a:t>
            </a:r>
            <a:r>
              <a:rPr lang="ja-JP" altLang="en-US"/>
              <a:t>の応答を確認</a:t>
            </a:r>
          </a:p>
        </p:txBody>
      </p:sp>
    </p:spTree>
    <p:extLst>
      <p:ext uri="{BB962C8B-B14F-4D97-AF65-F5344CB8AC3E}">
        <p14:creationId xmlns:p14="http://schemas.microsoft.com/office/powerpoint/2010/main" val="2540423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E77A29-E971-8309-F179-10073EE14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理解度チェックポイント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8123FE8-BF7C-830B-BC50-F7576D31C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r>
              <a:rPr lang="ja-JP" altLang="en-US" b="1"/>
              <a:t>基本理解</a:t>
            </a:r>
          </a:p>
          <a:p>
            <a:pPr lvl="1"/>
            <a:r>
              <a:rPr lang="en-US" altLang="ja-JP" dirty="0"/>
              <a:t>LLM</a:t>
            </a:r>
            <a:r>
              <a:rPr lang="ja-JP" altLang="en-US"/>
              <a:t>が何か説明できる</a:t>
            </a:r>
          </a:p>
          <a:p>
            <a:pPr lvl="1"/>
            <a:r>
              <a:rPr lang="en-US" altLang="ja-JP" dirty="0"/>
              <a:t>Transformer</a:t>
            </a:r>
            <a:r>
              <a:rPr lang="ja-JP" altLang="en-US"/>
              <a:t>の役割を理解している</a:t>
            </a:r>
          </a:p>
          <a:p>
            <a:pPr lvl="1"/>
            <a:r>
              <a:rPr lang="ja-JP" altLang="en-US"/>
              <a:t>注意機構の基本的な仕組みを理解している</a:t>
            </a:r>
            <a:endParaRPr lang="en-US" altLang="ja-JP" dirty="0"/>
          </a:p>
          <a:p>
            <a:pPr lvl="1"/>
            <a:endParaRPr lang="ja-JP" altLang="en-US"/>
          </a:p>
          <a:p>
            <a:r>
              <a:rPr lang="ja-JP" altLang="en-US" b="1"/>
              <a:t>実装スキル</a:t>
            </a:r>
          </a:p>
          <a:p>
            <a:pPr lvl="1"/>
            <a:r>
              <a:rPr lang="en-US" altLang="ja-JP" dirty="0"/>
              <a:t>API</a:t>
            </a:r>
            <a:r>
              <a:rPr lang="ja-JP" altLang="en-US"/>
              <a:t>呼び出しのコードを理解している</a:t>
            </a:r>
          </a:p>
          <a:p>
            <a:pPr lvl="1"/>
            <a:r>
              <a:rPr lang="ja-JP" altLang="en-US"/>
              <a:t>非同期処理（</a:t>
            </a:r>
            <a:r>
              <a:rPr lang="en-US" altLang="ja-JP" dirty="0"/>
              <a:t>async/await</a:t>
            </a:r>
            <a:r>
              <a:rPr lang="ja-JP" altLang="en-US"/>
              <a:t>）を使える</a:t>
            </a:r>
          </a:p>
          <a:p>
            <a:pPr lvl="1"/>
            <a:r>
              <a:rPr lang="ja-JP" altLang="en-US"/>
              <a:t>エラーが出た時の対処方法を知っている</a:t>
            </a:r>
          </a:p>
          <a:p>
            <a:pPr marL="0" indent="0">
              <a:buNone/>
            </a:pP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7130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F93FDE-883C-B2BD-3291-AAC88D8D2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よくあるエラーと対処法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81773DF-4E2E-D063-72C5-46FB390CF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7855"/>
            <a:ext cx="10515600" cy="4955020"/>
          </a:xfrm>
        </p:spPr>
        <p:txBody>
          <a:bodyPr>
            <a:normAutofit fontScale="92500" lnSpcReduction="10000"/>
          </a:bodyPr>
          <a:lstStyle/>
          <a:p>
            <a:r>
              <a:rPr lang="ja-JP" altLang="en-US" b="1"/>
              <a:t>エラー</a:t>
            </a:r>
            <a:r>
              <a:rPr lang="en-US" altLang="ja-JP" b="1" dirty="0"/>
              <a:t>1: API_CONFIG is not defined</a:t>
            </a:r>
          </a:p>
          <a:p>
            <a:pPr lvl="1"/>
            <a:r>
              <a:rPr lang="ja-JP" altLang="en-US" b="1"/>
              <a:t>原因</a:t>
            </a:r>
            <a:r>
              <a:rPr lang="en-US" altLang="ja-JP" dirty="0"/>
              <a:t>: </a:t>
            </a:r>
            <a:r>
              <a:rPr lang="en-US" altLang="ja-JP" dirty="0" err="1"/>
              <a:t>config.js</a:t>
            </a:r>
            <a:r>
              <a:rPr lang="en-US" altLang="ja-JP" dirty="0"/>
              <a:t> </a:t>
            </a:r>
            <a:r>
              <a:rPr lang="ja-JP" altLang="en-US"/>
              <a:t>の構文エラー</a:t>
            </a:r>
            <a:br>
              <a:rPr lang="ja-JP" altLang="en-US"/>
            </a:br>
            <a:r>
              <a:rPr lang="ja-JP" altLang="en-US" b="1"/>
              <a:t>対処</a:t>
            </a:r>
            <a:r>
              <a:rPr lang="en-US" altLang="ja-JP" dirty="0"/>
              <a:t>:</a:t>
            </a:r>
          </a:p>
          <a:p>
            <a:pPr lvl="2"/>
            <a:r>
              <a:rPr lang="ja-JP" altLang="en-US"/>
              <a:t>カンマ（</a:t>
            </a:r>
            <a:r>
              <a:rPr lang="en-US" altLang="ja-JP" dirty="0"/>
              <a:t>,</a:t>
            </a:r>
            <a:r>
              <a:rPr lang="ja-JP" altLang="en-US"/>
              <a:t>）の抜けを確認</a:t>
            </a:r>
          </a:p>
          <a:p>
            <a:pPr lvl="2"/>
            <a:r>
              <a:rPr lang="ja-JP" altLang="en-US"/>
              <a:t>引用符の閉じ忘れを確認</a:t>
            </a:r>
          </a:p>
          <a:p>
            <a:r>
              <a:rPr lang="ja-JP" altLang="en-US" b="1"/>
              <a:t>エラー</a:t>
            </a:r>
            <a:r>
              <a:rPr lang="en-US" altLang="ja-JP" b="1" dirty="0"/>
              <a:t>2: 429 Too Many Requests</a:t>
            </a:r>
          </a:p>
          <a:p>
            <a:pPr lvl="1"/>
            <a:r>
              <a:rPr lang="ja-JP" altLang="en-US" b="1"/>
              <a:t>原因</a:t>
            </a:r>
            <a:r>
              <a:rPr lang="en-US" altLang="ja-JP" dirty="0"/>
              <a:t>: </a:t>
            </a:r>
            <a:r>
              <a:rPr lang="ja-JP" altLang="en-US"/>
              <a:t>リクエスト制限超過（</a:t>
            </a:r>
            <a:r>
              <a:rPr lang="en-US" altLang="ja-JP" dirty="0"/>
              <a:t>30</a:t>
            </a:r>
            <a:r>
              <a:rPr lang="ja-JP" altLang="en-US"/>
              <a:t>回</a:t>
            </a:r>
            <a:r>
              <a:rPr lang="en-US" altLang="ja-JP" dirty="0"/>
              <a:t>/</a:t>
            </a:r>
            <a:r>
              <a:rPr lang="ja-JP" altLang="en-US"/>
              <a:t>時間）</a:t>
            </a:r>
            <a:br>
              <a:rPr lang="ja-JP" altLang="en-US"/>
            </a:br>
            <a:r>
              <a:rPr lang="ja-JP" altLang="en-US" b="1"/>
              <a:t>対処</a:t>
            </a:r>
            <a:r>
              <a:rPr lang="en-US" altLang="ja-JP" dirty="0"/>
              <a:t>:</a:t>
            </a:r>
          </a:p>
          <a:p>
            <a:pPr lvl="2"/>
            <a:r>
              <a:rPr lang="ja-JP" altLang="en-US"/>
              <a:t>少し待ってから再試行</a:t>
            </a:r>
          </a:p>
          <a:p>
            <a:pPr lvl="2"/>
            <a:r>
              <a:rPr lang="ja-JP" altLang="en-US"/>
              <a:t>不要なリクエストを控える</a:t>
            </a:r>
          </a:p>
          <a:p>
            <a:r>
              <a:rPr lang="ja-JP" altLang="en-US" b="1"/>
              <a:t>エラー</a:t>
            </a:r>
            <a:r>
              <a:rPr lang="en-US" altLang="ja-JP" b="1" dirty="0"/>
              <a:t>3: fetch failed</a:t>
            </a:r>
          </a:p>
          <a:p>
            <a:pPr lvl="1"/>
            <a:r>
              <a:rPr lang="ja-JP" altLang="en-US" b="1"/>
              <a:t>原因</a:t>
            </a:r>
            <a:r>
              <a:rPr lang="en-US" altLang="ja-JP" dirty="0"/>
              <a:t>: </a:t>
            </a:r>
            <a:r>
              <a:rPr lang="ja-JP" altLang="en-US"/>
              <a:t>ネットワークエラー</a:t>
            </a:r>
            <a:br>
              <a:rPr lang="ja-JP" altLang="en-US"/>
            </a:br>
            <a:r>
              <a:rPr lang="ja-JP" altLang="en-US" b="1"/>
              <a:t>対処</a:t>
            </a:r>
            <a:r>
              <a:rPr lang="en-US" altLang="ja-JP" dirty="0"/>
              <a:t>:</a:t>
            </a:r>
          </a:p>
          <a:p>
            <a:pPr lvl="2"/>
            <a:r>
              <a:rPr lang="ja-JP" altLang="en-US"/>
              <a:t>インターネット接続確認</a:t>
            </a:r>
          </a:p>
          <a:p>
            <a:pPr lvl="2"/>
            <a:r>
              <a:rPr lang="en-US" altLang="ja-JP" dirty="0"/>
              <a:t>API URL</a:t>
            </a:r>
            <a:r>
              <a:rPr lang="ja-JP" altLang="en-US"/>
              <a:t>が正しいか確認</a:t>
            </a:r>
          </a:p>
          <a:p>
            <a:pPr marL="0" indent="0">
              <a:buNone/>
            </a:pP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7221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2A2BDD-5307-6535-302A-DD2AF58CD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722" y="2766218"/>
            <a:ext cx="10515600" cy="1325563"/>
          </a:xfrm>
        </p:spPr>
        <p:txBody>
          <a:bodyPr/>
          <a:lstStyle/>
          <a:p>
            <a:r>
              <a:rPr kumimoji="1" lang="ja-JP" altLang="en-US"/>
              <a:t>基本概念</a:t>
            </a:r>
          </a:p>
        </p:txBody>
      </p:sp>
    </p:spTree>
    <p:extLst>
      <p:ext uri="{BB962C8B-B14F-4D97-AF65-F5344CB8AC3E}">
        <p14:creationId xmlns:p14="http://schemas.microsoft.com/office/powerpoint/2010/main" val="3099782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727884-CFFC-B95D-6C9A-E32F7A60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91570"/>
          </a:xfrm>
        </p:spPr>
        <p:txBody>
          <a:bodyPr/>
          <a:lstStyle/>
          <a:p>
            <a:r>
              <a:rPr lang="en-US" altLang="ja-JP" dirty="0"/>
              <a:t>LLM</a:t>
            </a:r>
            <a:r>
              <a:rPr lang="ja-JP" altLang="en-US"/>
              <a:t>とは何か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93FBA6F-EC7F-89C9-8408-3E6A5A20D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1570"/>
            <a:ext cx="10515600" cy="6066429"/>
          </a:xfrm>
        </p:spPr>
        <p:txBody>
          <a:bodyPr>
            <a:normAutofit/>
          </a:bodyPr>
          <a:lstStyle/>
          <a:p>
            <a:r>
              <a:rPr lang="en-US" altLang="ja-JP" dirty="0"/>
              <a:t>LLM</a:t>
            </a:r>
            <a:r>
              <a:rPr lang="ja-JP" altLang="en-US"/>
              <a:t>（</a:t>
            </a:r>
            <a:r>
              <a:rPr lang="en-US" altLang="ja-JP" dirty="0"/>
              <a:t>Large Language Model</a:t>
            </a:r>
            <a:r>
              <a:rPr lang="ja-JP" altLang="en-US"/>
              <a:t>）</a:t>
            </a:r>
            <a:endParaRPr lang="en-US" altLang="ja-JP" dirty="0"/>
          </a:p>
          <a:p>
            <a:pPr lvl="1"/>
            <a:r>
              <a:rPr lang="ja-JP" altLang="en-US" b="1"/>
              <a:t>大量のテキストを学習して、文脈から次の単語を予測する</a:t>
            </a:r>
            <a:r>
              <a:rPr lang="en-US" altLang="ja-JP" b="1" dirty="0"/>
              <a:t>AI</a:t>
            </a:r>
          </a:p>
          <a:p>
            <a:pPr lvl="1"/>
            <a:r>
              <a:rPr lang="ja-JP" altLang="en-US"/>
              <a:t>人間が言葉を使う「パターン」を統計的に学び、自然な会話を生成</a:t>
            </a:r>
            <a:endParaRPr lang="en-US" altLang="ja-JP" dirty="0"/>
          </a:p>
          <a:p>
            <a:pPr lvl="1"/>
            <a:r>
              <a:rPr lang="ja-JP" altLang="en-US"/>
              <a:t>例：</a:t>
            </a:r>
          </a:p>
          <a:p>
            <a:pPr lvl="2"/>
            <a:r>
              <a:rPr lang="ja-JP" altLang="en-US"/>
              <a:t>入力：「今日はとても」 → 予測：「暑い」「楽しい」「忙しい」などを確率的に選択。</a:t>
            </a:r>
          </a:p>
          <a:p>
            <a:r>
              <a:rPr lang="en-US" altLang="ja-JP" dirty="0"/>
              <a:t>LLM</a:t>
            </a:r>
            <a:r>
              <a:rPr lang="ja-JP" altLang="en-US"/>
              <a:t>の</a:t>
            </a:r>
            <a:r>
              <a:rPr lang="en-US" altLang="ja-JP" dirty="0"/>
              <a:t>3</a:t>
            </a:r>
            <a:r>
              <a:rPr lang="ja-JP" altLang="en-US"/>
              <a:t>層構造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/>
              <a:t>学習のしくみ（自己教師あり学習）</a:t>
            </a:r>
            <a:endParaRPr lang="en-US" altLang="ja-JP" dirty="0"/>
          </a:p>
          <a:p>
            <a:pPr lvl="1"/>
            <a:r>
              <a:rPr lang="en-US" altLang="ja-JP" dirty="0"/>
              <a:t>LLM</a:t>
            </a:r>
            <a:r>
              <a:rPr lang="ja-JP" altLang="en-US"/>
              <a:t>は、「文の一部を隠して当てる」という課題を何兆回も学習</a:t>
            </a:r>
          </a:p>
          <a:p>
            <a:pPr lvl="1"/>
            <a:r>
              <a:rPr lang="ja-JP" altLang="en-US"/>
              <a:t>例：</a:t>
            </a:r>
          </a:p>
          <a:p>
            <a:pPr lvl="2"/>
            <a:r>
              <a:rPr lang="ja-JP" altLang="en-US"/>
              <a:t>「私は＿＿を食べた」 → モデルは「りんご」「パン」などを予測。</a:t>
            </a:r>
            <a:br>
              <a:rPr lang="ja-JP" altLang="en-US"/>
            </a:br>
            <a:r>
              <a:rPr lang="ja-JP" altLang="en-US"/>
              <a:t>この繰り返しで、文脈を読む力を獲得</a:t>
            </a:r>
          </a:p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EB557A6-4EE8-C219-8B68-3518FE031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740" y="2942962"/>
            <a:ext cx="5294487" cy="1591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523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80C474-64D1-63ED-5207-7B1A255EC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1087214"/>
          </a:xfrm>
        </p:spPr>
        <p:txBody>
          <a:bodyPr/>
          <a:lstStyle/>
          <a:p>
            <a:r>
              <a:rPr lang="en-US" altLang="ja-JP" dirty="0"/>
              <a:t>Transformer</a:t>
            </a:r>
            <a:r>
              <a:rPr lang="ja-JP" altLang="en-US"/>
              <a:t>とは？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A5B0F7-4329-7553-BC81-30698D43C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9935"/>
            <a:ext cx="7309513" cy="4230806"/>
          </a:xfrm>
        </p:spPr>
        <p:txBody>
          <a:bodyPr>
            <a:normAutofit lnSpcReduction="10000"/>
          </a:bodyPr>
          <a:lstStyle/>
          <a:p>
            <a:r>
              <a:rPr lang="en-US" altLang="ja-JP" dirty="0"/>
              <a:t>2017</a:t>
            </a:r>
            <a:r>
              <a:rPr lang="ja-JP" altLang="en-US"/>
              <a:t>年に提案されたアーキテクチャ</a:t>
            </a:r>
            <a:endParaRPr lang="en-US" altLang="ja-JP" dirty="0"/>
          </a:p>
          <a:p>
            <a:r>
              <a:rPr lang="ja-JP" altLang="en-US" b="1"/>
              <a:t>文全体を同時に理解できる</a:t>
            </a:r>
            <a:r>
              <a:rPr lang="ja-JP" altLang="en-US"/>
              <a:t>構造</a:t>
            </a:r>
            <a:endParaRPr lang="en-US" altLang="ja-JP" dirty="0"/>
          </a:p>
          <a:p>
            <a:r>
              <a:rPr lang="ja-JP" altLang="en-US"/>
              <a:t>単語ごとの「注目の重み（</a:t>
            </a:r>
            <a:r>
              <a:rPr lang="en-US" altLang="ja-JP" dirty="0"/>
              <a:t>Attention</a:t>
            </a:r>
            <a:r>
              <a:rPr lang="ja-JP" altLang="en-US"/>
              <a:t>）」を計算し、重要な関係を捉える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/>
              <a:t>入力文 → </a:t>
            </a:r>
            <a:r>
              <a:rPr kumimoji="1" lang="en-US" altLang="ja-JP" dirty="0"/>
              <a:t>Embedding → Encoder → Decoder → </a:t>
            </a:r>
            <a:r>
              <a:rPr kumimoji="1" lang="ja-JP" altLang="en-US"/>
              <a:t>出力文</a:t>
            </a:r>
            <a:endParaRPr kumimoji="1" lang="en-US" altLang="ja-JP" dirty="0"/>
          </a:p>
          <a:p>
            <a:pPr lvl="1"/>
            <a:r>
              <a:rPr lang="en-US" altLang="ja-JP" b="1" dirty="0"/>
              <a:t>Embedding</a:t>
            </a:r>
            <a:r>
              <a:rPr lang="en-US" altLang="ja-JP" dirty="0"/>
              <a:t>: </a:t>
            </a:r>
            <a:r>
              <a:rPr lang="ja-JP" altLang="en-US"/>
              <a:t>単語を数値ベクトルに変換</a:t>
            </a:r>
          </a:p>
          <a:p>
            <a:pPr lvl="1"/>
            <a:r>
              <a:rPr lang="en-US" altLang="ja-JP" b="1" dirty="0"/>
              <a:t>Encoder</a:t>
            </a:r>
            <a:r>
              <a:rPr lang="en-US" altLang="ja-JP" dirty="0"/>
              <a:t>: </a:t>
            </a:r>
            <a:r>
              <a:rPr lang="ja-JP" altLang="en-US"/>
              <a:t>単語間の関係を解析（</a:t>
            </a:r>
            <a:r>
              <a:rPr lang="en-US" altLang="ja-JP" dirty="0"/>
              <a:t>Attention</a:t>
            </a:r>
            <a:r>
              <a:rPr lang="ja-JP" altLang="en-US"/>
              <a:t>）</a:t>
            </a:r>
          </a:p>
          <a:p>
            <a:pPr lvl="1"/>
            <a:r>
              <a:rPr lang="en-US" altLang="ja-JP" b="1" dirty="0"/>
              <a:t>Decoder</a:t>
            </a:r>
            <a:r>
              <a:rPr lang="en-US" altLang="ja-JP" dirty="0"/>
              <a:t>: </a:t>
            </a:r>
            <a:r>
              <a:rPr lang="ja-JP" altLang="en-US"/>
              <a:t>文を再構築・生成</a:t>
            </a:r>
          </a:p>
          <a:p>
            <a:pPr marL="0" indent="0">
              <a:buNone/>
            </a:pP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42117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8FE123-0D1F-4E4C-952A-3D1CAF6F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86566"/>
          </a:xfrm>
        </p:spPr>
        <p:txBody>
          <a:bodyPr/>
          <a:lstStyle/>
          <a:p>
            <a:r>
              <a:rPr lang="ja-JP" altLang="en-US"/>
              <a:t>人間が文を読むときに「重要な部分に意識を向ける」ように、</a:t>
            </a:r>
            <a:br>
              <a:rPr lang="ja-JP" altLang="en-US"/>
            </a:br>
            <a:r>
              <a:rPr lang="en-US" altLang="ja-JP" dirty="0"/>
              <a:t>Attention</a:t>
            </a:r>
            <a:r>
              <a:rPr lang="ja-JP" altLang="en-US"/>
              <a:t>は「どの単語を重視するか」を数値で表す</a:t>
            </a:r>
            <a:endParaRPr lang="en-US" altLang="ja-JP" dirty="0"/>
          </a:p>
          <a:p>
            <a:pPr lvl="1"/>
            <a:r>
              <a:rPr lang="ja-JP" altLang="en-US"/>
              <a:t>例：</a:t>
            </a:r>
          </a:p>
          <a:p>
            <a:pPr lvl="2"/>
            <a:r>
              <a:rPr lang="ja-JP" altLang="en-US"/>
              <a:t>「彼はリンゴを食べて満足した」</a:t>
            </a:r>
            <a:br>
              <a:rPr lang="ja-JP" altLang="en-US"/>
            </a:br>
            <a:r>
              <a:rPr lang="ja-JP" altLang="en-US"/>
              <a:t>→ 「満足した」は「食べて」と関係が強い。</a:t>
            </a:r>
          </a:p>
          <a:p>
            <a:pPr marL="0" indent="0">
              <a:buNone/>
            </a:pPr>
            <a:endParaRPr kumimoji="1" lang="ja-JP" altLang="en-US"/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F2C95FBA-0A7F-3306-CD29-31A0791DA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4400" b="1" i="1" dirty="0">
                <a:solidFill>
                  <a:srgbClr val="0070C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___________is all you need</a:t>
            </a:r>
            <a:endParaRPr lang="ja-JP" altLang="en-US"/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58DC718C-8EF8-D912-2124-C48D12ADAADE}"/>
              </a:ext>
            </a:extLst>
          </p:cNvPr>
          <p:cNvGraphicFramePr>
            <a:graphicFrameLocks noGrp="1"/>
          </p:cNvGraphicFramePr>
          <p:nvPr/>
        </p:nvGraphicFramePr>
        <p:xfrm>
          <a:off x="2221811" y="4782422"/>
          <a:ext cx="7748378" cy="1463040"/>
        </p:xfrm>
        <a:graphic>
          <a:graphicData uri="http://schemas.openxmlformats.org/drawingml/2006/table">
            <a:tbl>
              <a:tblPr/>
              <a:tblGrid>
                <a:gridCol w="1538637">
                  <a:extLst>
                    <a:ext uri="{9D8B030D-6E8A-4147-A177-3AD203B41FA5}">
                      <a16:colId xmlns:a16="http://schemas.microsoft.com/office/drawing/2014/main" val="2500064752"/>
                    </a:ext>
                  </a:extLst>
                </a:gridCol>
                <a:gridCol w="2410812">
                  <a:extLst>
                    <a:ext uri="{9D8B030D-6E8A-4147-A177-3AD203B41FA5}">
                      <a16:colId xmlns:a16="http://schemas.microsoft.com/office/drawing/2014/main" val="2101842794"/>
                    </a:ext>
                  </a:extLst>
                </a:gridCol>
                <a:gridCol w="3798929">
                  <a:extLst>
                    <a:ext uri="{9D8B030D-6E8A-4147-A177-3AD203B41FA5}">
                      <a16:colId xmlns:a16="http://schemas.microsoft.com/office/drawing/2014/main" val="37584980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ja-JP" altLang="en-US"/>
                        <a:t>記号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意味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8296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Q (Query)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注目する視点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「満足した」から見たとき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4941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K (Key)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文中の各単語の特徴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「彼」「リンゴ」「食べて」など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8129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V (Value)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実際の情報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各単語の意味内容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6489922"/>
                  </a:ext>
                </a:extLst>
              </a:tr>
            </a:tbl>
          </a:graphicData>
        </a:graphic>
      </p:graphicFrame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82FAA2F-E741-360A-0505-E1CE13E2866D}"/>
              </a:ext>
            </a:extLst>
          </p:cNvPr>
          <p:cNvSpPr txBox="1"/>
          <p:nvPr/>
        </p:nvSpPr>
        <p:spPr>
          <a:xfrm>
            <a:off x="1274928" y="6425973"/>
            <a:ext cx="8804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>
                <a:latin typeface="Meiryo" panose="020B0604030504040204" pitchFamily="34" charset="-128"/>
                <a:ea typeface="Meiryo" panose="020B0604030504040204" pitchFamily="34" charset="-128"/>
              </a:rPr>
              <a:t>注意機構：「</a:t>
            </a:r>
            <a:r>
              <a:rPr lang="en-US" altLang="ja-JP" b="1" dirty="0">
                <a:latin typeface="Meiryo" panose="020B0604030504040204" pitchFamily="34" charset="-128"/>
                <a:ea typeface="Meiryo" panose="020B0604030504040204" pitchFamily="34" charset="-128"/>
              </a:rPr>
              <a:t>Q</a:t>
            </a:r>
            <a:r>
              <a:rPr lang="ja-JP" altLang="en-US" b="1">
                <a:latin typeface="Meiryo" panose="020B0604030504040204" pitchFamily="34" charset="-128"/>
                <a:ea typeface="Meiryo" panose="020B0604030504040204" pitchFamily="34" charset="-128"/>
              </a:rPr>
              <a:t>と</a:t>
            </a:r>
            <a:r>
              <a:rPr lang="en-US" altLang="ja-JP" b="1" dirty="0">
                <a:latin typeface="Meiryo" panose="020B0604030504040204" pitchFamily="34" charset="-128"/>
                <a:ea typeface="Meiryo" panose="020B0604030504040204" pitchFamily="34" charset="-128"/>
              </a:rPr>
              <a:t>K</a:t>
            </a:r>
            <a:r>
              <a:rPr lang="ja-JP" altLang="en-US" b="1">
                <a:latin typeface="Meiryo" panose="020B0604030504040204" pitchFamily="34" charset="-128"/>
                <a:ea typeface="Meiryo" panose="020B0604030504040204" pitchFamily="34" charset="-128"/>
              </a:rPr>
              <a:t>の類似度から“注目度”を計算し、</a:t>
            </a:r>
            <a:r>
              <a:rPr lang="en-US" altLang="ja-JP" b="1" dirty="0">
                <a:latin typeface="Meiryo" panose="020B0604030504040204" pitchFamily="34" charset="-128"/>
                <a:ea typeface="Meiryo" panose="020B0604030504040204" pitchFamily="34" charset="-128"/>
              </a:rPr>
              <a:t>V</a:t>
            </a:r>
            <a:r>
              <a:rPr lang="ja-JP" altLang="en-US" b="1">
                <a:latin typeface="Meiryo" panose="020B0604030504040204" pitchFamily="34" charset="-128"/>
                <a:ea typeface="Meiryo" panose="020B0604030504040204" pitchFamily="34" charset="-128"/>
              </a:rPr>
              <a:t>を重み付き平均する」仕組み</a:t>
            </a:r>
            <a:endParaRPr kumimoji="1" lang="ja-JP" altLang="en-US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57F4980F-1BDF-A17A-E6E4-609F00CFA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01567"/>
            <a:ext cx="51054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934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9D467-2028-08DA-453C-3BE628166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99142D-4BC5-0F20-5044-D52FEA80C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722" y="2766218"/>
            <a:ext cx="10515600" cy="1325563"/>
          </a:xfrm>
        </p:spPr>
        <p:txBody>
          <a:bodyPr/>
          <a:lstStyle/>
          <a:p>
            <a:r>
              <a:rPr kumimoji="1" lang="ja-JP" altLang="en-US"/>
              <a:t>基本概念の体験</a:t>
            </a:r>
          </a:p>
        </p:txBody>
      </p:sp>
    </p:spTree>
    <p:extLst>
      <p:ext uri="{BB962C8B-B14F-4D97-AF65-F5344CB8AC3E}">
        <p14:creationId xmlns:p14="http://schemas.microsoft.com/office/powerpoint/2010/main" val="938503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943FD1-51E7-B00E-EE29-E5F3770F1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 dirty="0"/>
              <a:t>A: </a:t>
            </a:r>
            <a:r>
              <a:rPr lang="ja-JP" altLang="en-US"/>
              <a:t>注意重みの計算を体験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12439F2-7F45-C3CC-5B21-0CB6BAAC2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2688"/>
            <a:ext cx="5257800" cy="5116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/>
              <a:t>右の簡易コードを実行して、</a:t>
            </a:r>
            <a:r>
              <a:rPr lang="en-US" altLang="ja-JP" dirty="0"/>
              <a:t>Attention</a:t>
            </a:r>
            <a:r>
              <a:rPr lang="ja-JP" altLang="en-US"/>
              <a:t>の「重み」がどのように変化するかを観察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b="1"/>
              <a:t>実践内容</a:t>
            </a:r>
          </a:p>
          <a:p>
            <a:pPr>
              <a:buFont typeface="+mj-lt"/>
              <a:buAutoNum type="arabicPeriod"/>
            </a:pPr>
            <a:r>
              <a:rPr lang="en-US" altLang="ja-JP" dirty="0"/>
              <a:t>query, keys, values </a:t>
            </a:r>
            <a:r>
              <a:rPr lang="ja-JP" altLang="en-US"/>
              <a:t>の値を変えて出力を観察。</a:t>
            </a:r>
          </a:p>
          <a:p>
            <a:pPr>
              <a:buFont typeface="+mj-lt"/>
              <a:buAutoNum type="arabicPeriod"/>
            </a:pPr>
            <a:r>
              <a:rPr lang="en-US" altLang="ja-JP" dirty="0" err="1"/>
              <a:t>console.log</a:t>
            </a:r>
            <a:r>
              <a:rPr lang="en-US" altLang="ja-JP" dirty="0"/>
              <a:t>(weights) </a:t>
            </a:r>
            <a:r>
              <a:rPr lang="ja-JP" altLang="en-US"/>
              <a:t>を追加して、どの単語に強く注目しているか確認。</a:t>
            </a:r>
          </a:p>
          <a:p>
            <a:pPr>
              <a:buFont typeface="+mj-lt"/>
              <a:buAutoNum type="arabicPeriod"/>
            </a:pPr>
            <a:r>
              <a:rPr lang="ja-JP" altLang="en-US"/>
              <a:t>結果を記録</a:t>
            </a:r>
          </a:p>
          <a:p>
            <a:pPr marL="0" indent="0">
              <a:buNone/>
            </a:pP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442A714-BCAF-F0B6-FC71-7F28E97FD641}"/>
              </a:ext>
            </a:extLst>
          </p:cNvPr>
          <p:cNvSpPr txBox="1"/>
          <p:nvPr/>
        </p:nvSpPr>
        <p:spPr>
          <a:xfrm>
            <a:off x="6318914" y="1502688"/>
            <a:ext cx="555588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kumimoji="1" lang="en-US" altLang="ja-JP" dirty="0"/>
              <a:t>class </a:t>
            </a:r>
            <a:r>
              <a:rPr kumimoji="1" lang="en-US" altLang="ja-JP" dirty="0" err="1"/>
              <a:t>SimpleAttention</a:t>
            </a:r>
            <a:r>
              <a:rPr kumimoji="1" lang="en-US" altLang="ja-JP" dirty="0"/>
              <a:t> {</a:t>
            </a:r>
          </a:p>
          <a:p>
            <a:pPr marL="0" indent="0">
              <a:buNone/>
            </a:pPr>
            <a:r>
              <a:rPr kumimoji="1" lang="en-US" altLang="ja-JP" dirty="0"/>
              <a:t>    </a:t>
            </a:r>
            <a:r>
              <a:rPr kumimoji="1" lang="en-US" altLang="ja-JP" dirty="0" err="1"/>
              <a:t>computeAttention</a:t>
            </a:r>
            <a:r>
              <a:rPr kumimoji="1" lang="en-US" altLang="ja-JP" dirty="0"/>
              <a:t>(query, keys, values) {</a:t>
            </a:r>
          </a:p>
          <a:p>
            <a:pPr marL="0" indent="0">
              <a:buNone/>
            </a:pPr>
            <a:r>
              <a:rPr kumimoji="1" lang="en-US" altLang="ja-JP" dirty="0"/>
              <a:t>        const scores = </a:t>
            </a:r>
            <a:r>
              <a:rPr kumimoji="1" lang="en-US" altLang="ja-JP" dirty="0" err="1"/>
              <a:t>keys.map</a:t>
            </a:r>
            <a:r>
              <a:rPr kumimoji="1" lang="en-US" altLang="ja-JP" dirty="0"/>
              <a:t>(key =&gt; </a:t>
            </a:r>
            <a:r>
              <a:rPr kumimoji="1" lang="en-US" altLang="ja-JP" dirty="0" err="1"/>
              <a:t>this.dotProduct</a:t>
            </a:r>
            <a:r>
              <a:rPr kumimoji="1" lang="en-US" altLang="ja-JP" dirty="0"/>
              <a:t>(query, key));</a:t>
            </a:r>
          </a:p>
          <a:p>
            <a:pPr marL="0" indent="0">
              <a:buNone/>
            </a:pPr>
            <a:r>
              <a:rPr kumimoji="1" lang="en-US" altLang="ja-JP" dirty="0"/>
              <a:t>        const weights = </a:t>
            </a:r>
            <a:r>
              <a:rPr kumimoji="1" lang="en-US" altLang="ja-JP" dirty="0" err="1"/>
              <a:t>this.softmax</a:t>
            </a:r>
            <a:r>
              <a:rPr kumimoji="1" lang="en-US" altLang="ja-JP" dirty="0"/>
              <a:t>(scores);</a:t>
            </a:r>
          </a:p>
          <a:p>
            <a:pPr marL="0" indent="0">
              <a:buNone/>
            </a:pPr>
            <a:r>
              <a:rPr kumimoji="1" lang="en-US" altLang="ja-JP" dirty="0"/>
              <a:t>        return </a:t>
            </a:r>
            <a:r>
              <a:rPr kumimoji="1" lang="en-US" altLang="ja-JP" dirty="0" err="1"/>
              <a:t>values.map</a:t>
            </a:r>
            <a:r>
              <a:rPr kumimoji="1" lang="en-US" altLang="ja-JP" dirty="0"/>
              <a:t>((v, </a:t>
            </a:r>
            <a:r>
              <a:rPr kumimoji="1" lang="en-US" altLang="ja-JP" dirty="0" err="1"/>
              <a:t>i</a:t>
            </a:r>
            <a:r>
              <a:rPr kumimoji="1" lang="en-US" altLang="ja-JP" dirty="0"/>
              <a:t>) =&gt; v * weights[</a:t>
            </a:r>
            <a:r>
              <a:rPr kumimoji="1" lang="en-US" altLang="ja-JP" dirty="0" err="1"/>
              <a:t>i</a:t>
            </a:r>
            <a:r>
              <a:rPr kumimoji="1" lang="en-US" altLang="ja-JP" dirty="0"/>
              <a:t>]).reduce((a, b) =&gt; a + b);</a:t>
            </a:r>
          </a:p>
          <a:p>
            <a:pPr marL="0" indent="0">
              <a:buNone/>
            </a:pPr>
            <a:r>
              <a:rPr kumimoji="1" lang="en-US" altLang="ja-JP" dirty="0"/>
              <a:t>    }</a:t>
            </a:r>
          </a:p>
          <a:p>
            <a:pPr marL="0" indent="0">
              <a:buNone/>
            </a:pPr>
            <a:r>
              <a:rPr kumimoji="1" lang="en-US" altLang="ja-JP" dirty="0"/>
              <a:t>    </a:t>
            </a:r>
            <a:r>
              <a:rPr kumimoji="1" lang="en-US" altLang="ja-JP" dirty="0" err="1"/>
              <a:t>dotProduct</a:t>
            </a:r>
            <a:r>
              <a:rPr kumimoji="1" lang="en-US" altLang="ja-JP" dirty="0"/>
              <a:t>(a, b) { return </a:t>
            </a:r>
            <a:r>
              <a:rPr kumimoji="1" lang="en-US" altLang="ja-JP" dirty="0" err="1"/>
              <a:t>a.reduce</a:t>
            </a:r>
            <a:r>
              <a:rPr kumimoji="1" lang="en-US" altLang="ja-JP" dirty="0"/>
              <a:t>((s, v, </a:t>
            </a:r>
            <a:r>
              <a:rPr kumimoji="1" lang="en-US" altLang="ja-JP" dirty="0" err="1"/>
              <a:t>i</a:t>
            </a:r>
            <a:r>
              <a:rPr kumimoji="1" lang="en-US" altLang="ja-JP" dirty="0"/>
              <a:t>) =&gt; s + v * b[</a:t>
            </a:r>
            <a:r>
              <a:rPr kumimoji="1" lang="en-US" altLang="ja-JP" dirty="0" err="1"/>
              <a:t>i</a:t>
            </a:r>
            <a:r>
              <a:rPr kumimoji="1" lang="en-US" altLang="ja-JP" dirty="0"/>
              <a:t>], 0); }</a:t>
            </a:r>
          </a:p>
          <a:p>
            <a:pPr marL="0" indent="0">
              <a:buNone/>
            </a:pPr>
            <a:r>
              <a:rPr kumimoji="1" lang="en-US" altLang="ja-JP" dirty="0"/>
              <a:t>    </a:t>
            </a:r>
            <a:r>
              <a:rPr kumimoji="1" lang="en-US" altLang="ja-JP" dirty="0" err="1"/>
              <a:t>softmax</a:t>
            </a:r>
            <a:r>
              <a:rPr kumimoji="1" lang="en-US" altLang="ja-JP" dirty="0"/>
              <a:t>(scores) {</a:t>
            </a:r>
          </a:p>
          <a:p>
            <a:pPr marL="0" indent="0">
              <a:buNone/>
            </a:pPr>
            <a:r>
              <a:rPr kumimoji="1" lang="en-US" altLang="ja-JP" dirty="0"/>
              <a:t>        const max = </a:t>
            </a:r>
            <a:r>
              <a:rPr kumimoji="1" lang="en-US" altLang="ja-JP" dirty="0" err="1"/>
              <a:t>Math.max</a:t>
            </a:r>
            <a:r>
              <a:rPr kumimoji="1" lang="en-US" altLang="ja-JP" dirty="0"/>
              <a:t>(...scores);</a:t>
            </a:r>
          </a:p>
          <a:p>
            <a:pPr marL="0" indent="0">
              <a:buNone/>
            </a:pPr>
            <a:r>
              <a:rPr kumimoji="1" lang="en-US" altLang="ja-JP" dirty="0"/>
              <a:t>        const exp = </a:t>
            </a:r>
            <a:r>
              <a:rPr kumimoji="1" lang="en-US" altLang="ja-JP" dirty="0" err="1"/>
              <a:t>scores.map</a:t>
            </a:r>
            <a:r>
              <a:rPr kumimoji="1" lang="en-US" altLang="ja-JP" dirty="0"/>
              <a:t>(s =&gt; </a:t>
            </a:r>
            <a:r>
              <a:rPr kumimoji="1" lang="en-US" altLang="ja-JP" dirty="0" err="1"/>
              <a:t>Math.exp</a:t>
            </a:r>
            <a:r>
              <a:rPr kumimoji="1" lang="en-US" altLang="ja-JP" dirty="0"/>
              <a:t>(s - max));</a:t>
            </a:r>
          </a:p>
          <a:p>
            <a:pPr marL="0" indent="0">
              <a:buNone/>
            </a:pPr>
            <a:r>
              <a:rPr kumimoji="1" lang="en-US" altLang="ja-JP" dirty="0"/>
              <a:t>        const sum = </a:t>
            </a:r>
            <a:r>
              <a:rPr kumimoji="1" lang="en-US" altLang="ja-JP" dirty="0" err="1"/>
              <a:t>exp.reduce</a:t>
            </a:r>
            <a:r>
              <a:rPr kumimoji="1" lang="en-US" altLang="ja-JP" dirty="0"/>
              <a:t>((a, b) =&gt; a + b);</a:t>
            </a:r>
          </a:p>
          <a:p>
            <a:pPr marL="0" indent="0">
              <a:buNone/>
            </a:pPr>
            <a:r>
              <a:rPr kumimoji="1" lang="en-US" altLang="ja-JP" dirty="0"/>
              <a:t>        return </a:t>
            </a:r>
            <a:r>
              <a:rPr kumimoji="1" lang="en-US" altLang="ja-JP" dirty="0" err="1"/>
              <a:t>exp.map</a:t>
            </a:r>
            <a:r>
              <a:rPr kumimoji="1" lang="en-US" altLang="ja-JP" dirty="0"/>
              <a:t>(e =&gt; e / sum);</a:t>
            </a:r>
          </a:p>
          <a:p>
            <a:pPr marL="0" indent="0">
              <a:buNone/>
            </a:pPr>
            <a:r>
              <a:rPr kumimoji="1" lang="en-US" altLang="ja-JP" dirty="0"/>
              <a:t>    }</a:t>
            </a:r>
          </a:p>
          <a:p>
            <a:pPr marL="0" indent="0">
              <a:buNone/>
            </a:pPr>
            <a:r>
              <a:rPr kumimoji="1" lang="en-US" altLang="ja-JP" dirty="0"/>
              <a:t>}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31759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F5FD20-357C-83E9-AD30-5F1F2EAF4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準備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BC77E75-0026-C2E5-B99B-251327800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ja-JP" dirty="0" err="1"/>
              <a:t>llm</a:t>
            </a:r>
            <a:r>
              <a:rPr kumimoji="1" lang="en-US" altLang="ja-JP" dirty="0"/>
              <a:t>-rag-learning-template/</a:t>
            </a:r>
          </a:p>
          <a:p>
            <a:pPr marL="0" indent="0">
              <a:buNone/>
            </a:pPr>
            <a:r>
              <a:rPr kumimoji="1" lang="en-US" altLang="ja-JP" dirty="0"/>
              <a:t>├── </a:t>
            </a:r>
            <a:r>
              <a:rPr kumimoji="1" lang="en-US" altLang="ja-JP" dirty="0" err="1"/>
              <a:t>index.html</a:t>
            </a:r>
            <a:r>
              <a:rPr kumimoji="1" lang="en-US" altLang="ja-JP" dirty="0"/>
              <a:t>        ← </a:t>
            </a:r>
            <a:r>
              <a:rPr kumimoji="1" lang="ja-JP" altLang="en-US"/>
              <a:t>ここに「課題</a:t>
            </a:r>
            <a:r>
              <a:rPr kumimoji="1" lang="en-US" altLang="ja-JP" dirty="0"/>
              <a:t>A</a:t>
            </a:r>
            <a:r>
              <a:rPr kumimoji="1" lang="ja-JP" altLang="en-US"/>
              <a:t>」セクションを追記</a:t>
            </a:r>
          </a:p>
          <a:p>
            <a:pPr marL="0" indent="0">
              <a:buNone/>
            </a:pPr>
            <a:r>
              <a:rPr kumimoji="1" lang="ja-JP" altLang="en-US"/>
              <a:t>├── </a:t>
            </a:r>
            <a:r>
              <a:rPr kumimoji="1" lang="en-US" altLang="ja-JP" dirty="0" err="1"/>
              <a:t>js</a:t>
            </a:r>
            <a:r>
              <a:rPr kumimoji="1" lang="en-US" altLang="ja-JP" dirty="0"/>
              <a:t>/</a:t>
            </a:r>
          </a:p>
          <a:p>
            <a:pPr marL="0" indent="0">
              <a:buNone/>
            </a:pPr>
            <a:r>
              <a:rPr kumimoji="1" lang="en-US" altLang="ja-JP" dirty="0"/>
              <a:t>│   ├── attention-</a:t>
            </a:r>
            <a:r>
              <a:rPr kumimoji="1" lang="en-US" altLang="ja-JP" dirty="0" err="1"/>
              <a:t>demo.js</a:t>
            </a:r>
            <a:r>
              <a:rPr kumimoji="1" lang="en-US" altLang="ja-JP" dirty="0"/>
              <a:t>  ← </a:t>
            </a:r>
            <a:r>
              <a:rPr kumimoji="1" lang="ja-JP" altLang="en-US"/>
              <a:t>新規作成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/>
              <a:t>│   ├── </a:t>
            </a:r>
            <a:r>
              <a:rPr kumimoji="1" lang="en-US" altLang="ja-JP" dirty="0" err="1"/>
              <a:t>config.js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en-US" altLang="ja-JP" dirty="0"/>
              <a:t>│   ├── </a:t>
            </a:r>
            <a:r>
              <a:rPr kumimoji="1" lang="en-US" altLang="ja-JP" dirty="0" err="1"/>
              <a:t>llm-client.js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en-US" altLang="ja-JP" dirty="0"/>
              <a:t>│   └── </a:t>
            </a:r>
            <a:r>
              <a:rPr kumimoji="1" lang="en-US" altLang="ja-JP" dirty="0" err="1"/>
              <a:t>app.js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en-US" altLang="ja-JP" dirty="0"/>
              <a:t>└── </a:t>
            </a:r>
            <a:r>
              <a:rPr kumimoji="1" lang="en-US" altLang="ja-JP" dirty="0" err="1"/>
              <a:t>css</a:t>
            </a:r>
            <a:r>
              <a:rPr kumimoji="1" lang="en-US" altLang="ja-JP" dirty="0"/>
              <a:t>/</a:t>
            </a:r>
            <a:r>
              <a:rPr kumimoji="1" lang="en-US" altLang="ja-JP" dirty="0" err="1"/>
              <a:t>style.css</a:t>
            </a:r>
            <a:endParaRPr kumimoji="1" lang="en-US" altLang="ja-JP" dirty="0"/>
          </a:p>
          <a:p>
            <a:pPr marL="0" indent="0">
              <a:buNone/>
            </a:pP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23986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4138A0-065C-241A-8E7A-221BBD221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手順</a:t>
            </a:r>
            <a:r>
              <a:rPr lang="en-US" altLang="ja-JP" dirty="0"/>
              <a:t>1</a:t>
            </a:r>
            <a:r>
              <a:rPr lang="ja-JP" altLang="en-US"/>
              <a:t>：</a:t>
            </a:r>
            <a:r>
              <a:rPr lang="en-US" altLang="ja-JP" dirty="0" err="1"/>
              <a:t>js</a:t>
            </a:r>
            <a:r>
              <a:rPr lang="en-US" altLang="ja-JP" dirty="0"/>
              <a:t>/attention-</a:t>
            </a:r>
            <a:r>
              <a:rPr lang="en-US" altLang="ja-JP" dirty="0" err="1"/>
              <a:t>demo.js</a:t>
            </a:r>
            <a:r>
              <a:rPr lang="en-US" altLang="ja-JP" dirty="0"/>
              <a:t> </a:t>
            </a:r>
            <a:r>
              <a:rPr lang="ja-JP" altLang="en-US"/>
              <a:t>を新規作成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1A20E25-24EA-927D-87AA-8314D7492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419901" cy="4351338"/>
          </a:xfrm>
        </p:spPr>
        <p:txBody>
          <a:bodyPr/>
          <a:lstStyle/>
          <a:p>
            <a:pPr marL="0" indent="0">
              <a:buNone/>
            </a:pPr>
            <a:r>
              <a:rPr lang="ja-JP" altLang="en-US"/>
              <a:t>右のコードを</a:t>
            </a:r>
            <a:r>
              <a:rPr lang="ja-JP" altLang="en-US" b="1"/>
              <a:t>まるごと</a:t>
            </a:r>
            <a:r>
              <a:rPr lang="ja-JP" altLang="en-US"/>
              <a:t>保存</a:t>
            </a:r>
            <a:br>
              <a:rPr lang="ja-JP" altLang="en-US"/>
            </a:br>
            <a:r>
              <a:rPr lang="ja-JP" altLang="en-US"/>
              <a:t>（重みやスコア、最終結果をまとめて返し、入力の検証と</a:t>
            </a:r>
            <a:r>
              <a:rPr lang="en-US" altLang="ja-JP" dirty="0"/>
              <a:t>UI</a:t>
            </a:r>
            <a:r>
              <a:rPr lang="ja-JP" altLang="en-US"/>
              <a:t>出力まで行う）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6F2B2A3-303D-DABC-1901-AD9B3F54C4B4}"/>
              </a:ext>
            </a:extLst>
          </p:cNvPr>
          <p:cNvSpPr txBox="1"/>
          <p:nvPr/>
        </p:nvSpPr>
        <p:spPr>
          <a:xfrm>
            <a:off x="4455684" y="1825625"/>
            <a:ext cx="7478973" cy="13511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dirty="0"/>
              <a:t>// </a:t>
            </a:r>
            <a:r>
              <a:rPr kumimoji="1" lang="en-US" altLang="ja-JP" sz="800" dirty="0" err="1"/>
              <a:t>js</a:t>
            </a:r>
            <a:r>
              <a:rPr kumimoji="1" lang="en-US" altLang="ja-JP" sz="800" dirty="0"/>
              <a:t>/attention-</a:t>
            </a:r>
            <a:r>
              <a:rPr kumimoji="1" lang="en-US" altLang="ja-JP" sz="800" dirty="0" err="1"/>
              <a:t>demo.js</a:t>
            </a:r>
            <a:endParaRPr kumimoji="1" lang="en-US" altLang="ja-JP" sz="800" dirty="0"/>
          </a:p>
          <a:p>
            <a:r>
              <a:rPr kumimoji="1" lang="en-US" altLang="ja-JP" sz="800" dirty="0"/>
              <a:t>class </a:t>
            </a:r>
            <a:r>
              <a:rPr kumimoji="1" lang="en-US" altLang="ja-JP" sz="800" dirty="0" err="1"/>
              <a:t>SimpleAttention</a:t>
            </a:r>
            <a:r>
              <a:rPr kumimoji="1" lang="en-US" altLang="ja-JP" sz="800" dirty="0"/>
              <a:t> {</a:t>
            </a:r>
          </a:p>
          <a:p>
            <a:r>
              <a:rPr kumimoji="1" lang="en-US" altLang="ja-JP" sz="800" dirty="0"/>
              <a:t>  // Q·K^T </a:t>
            </a:r>
            <a:r>
              <a:rPr kumimoji="1" lang="ja-JP" altLang="en-US" sz="800"/>
              <a:t>のスコア列を計算</a:t>
            </a:r>
          </a:p>
          <a:p>
            <a:r>
              <a:rPr kumimoji="1" lang="ja-JP" altLang="en-US" sz="800"/>
              <a:t>  </a:t>
            </a:r>
            <a:r>
              <a:rPr kumimoji="1" lang="en-US" altLang="ja-JP" sz="800" dirty="0"/>
              <a:t>scores(query, keys) {</a:t>
            </a:r>
          </a:p>
          <a:p>
            <a:r>
              <a:rPr kumimoji="1" lang="en-US" altLang="ja-JP" sz="800" dirty="0"/>
              <a:t>    return </a:t>
            </a:r>
            <a:r>
              <a:rPr kumimoji="1" lang="en-US" altLang="ja-JP" sz="800" dirty="0" err="1"/>
              <a:t>keys.map</a:t>
            </a:r>
            <a:r>
              <a:rPr kumimoji="1" lang="en-US" altLang="ja-JP" sz="800" dirty="0"/>
              <a:t>(k =&gt; </a:t>
            </a:r>
            <a:r>
              <a:rPr kumimoji="1" lang="en-US" altLang="ja-JP" sz="800" dirty="0" err="1"/>
              <a:t>this.dot</a:t>
            </a:r>
            <a:r>
              <a:rPr kumimoji="1" lang="en-US" altLang="ja-JP" sz="800" dirty="0"/>
              <a:t>(query, k));</a:t>
            </a:r>
          </a:p>
          <a:p>
            <a:r>
              <a:rPr kumimoji="1" lang="en-US" altLang="ja-JP" sz="800" dirty="0"/>
              <a:t>  }</a:t>
            </a:r>
          </a:p>
          <a:p>
            <a:r>
              <a:rPr kumimoji="1" lang="en-US" altLang="ja-JP" sz="800" dirty="0"/>
              <a:t>  // </a:t>
            </a:r>
            <a:r>
              <a:rPr kumimoji="1" lang="ja-JP" altLang="en-US" sz="800"/>
              <a:t>ソフトマックス（数値安定化）</a:t>
            </a:r>
          </a:p>
          <a:p>
            <a:r>
              <a:rPr kumimoji="1" lang="ja-JP" altLang="en-US" sz="800"/>
              <a:t>  </a:t>
            </a:r>
            <a:r>
              <a:rPr kumimoji="1" lang="en-US" altLang="ja-JP" sz="800" dirty="0" err="1"/>
              <a:t>softmax</a:t>
            </a:r>
            <a:r>
              <a:rPr kumimoji="1" lang="en-US" altLang="ja-JP" sz="800" dirty="0"/>
              <a:t>(</a:t>
            </a:r>
            <a:r>
              <a:rPr kumimoji="1" lang="en-US" altLang="ja-JP" sz="800" dirty="0" err="1"/>
              <a:t>xs</a:t>
            </a:r>
            <a:r>
              <a:rPr kumimoji="1" lang="en-US" altLang="ja-JP" sz="800" dirty="0"/>
              <a:t>) {</a:t>
            </a:r>
          </a:p>
          <a:p>
            <a:r>
              <a:rPr kumimoji="1" lang="en-US" altLang="ja-JP" sz="800" dirty="0"/>
              <a:t>    const m = </a:t>
            </a:r>
            <a:r>
              <a:rPr kumimoji="1" lang="en-US" altLang="ja-JP" sz="800" dirty="0" err="1"/>
              <a:t>Math.max</a:t>
            </a:r>
            <a:r>
              <a:rPr kumimoji="1" lang="en-US" altLang="ja-JP" sz="800" dirty="0"/>
              <a:t>(...</a:t>
            </a:r>
            <a:r>
              <a:rPr kumimoji="1" lang="en-US" altLang="ja-JP" sz="800" dirty="0" err="1"/>
              <a:t>xs</a:t>
            </a:r>
            <a:r>
              <a:rPr kumimoji="1" lang="en-US" altLang="ja-JP" sz="800" dirty="0"/>
              <a:t>);</a:t>
            </a:r>
          </a:p>
          <a:p>
            <a:r>
              <a:rPr kumimoji="1" lang="en-US" altLang="ja-JP" sz="800" dirty="0"/>
              <a:t>    const </a:t>
            </a:r>
            <a:r>
              <a:rPr kumimoji="1" lang="en-US" altLang="ja-JP" sz="800" dirty="0" err="1"/>
              <a:t>exps</a:t>
            </a:r>
            <a:r>
              <a:rPr kumimoji="1" lang="en-US" altLang="ja-JP" sz="800" dirty="0"/>
              <a:t> = </a:t>
            </a:r>
            <a:r>
              <a:rPr kumimoji="1" lang="en-US" altLang="ja-JP" sz="800" dirty="0" err="1"/>
              <a:t>xs.map</a:t>
            </a:r>
            <a:r>
              <a:rPr kumimoji="1" lang="en-US" altLang="ja-JP" sz="800" dirty="0"/>
              <a:t>(x =&gt; </a:t>
            </a:r>
            <a:r>
              <a:rPr kumimoji="1" lang="en-US" altLang="ja-JP" sz="800" dirty="0" err="1"/>
              <a:t>Math.exp</a:t>
            </a:r>
            <a:r>
              <a:rPr kumimoji="1" lang="en-US" altLang="ja-JP" sz="800" dirty="0"/>
              <a:t>(x - m));</a:t>
            </a:r>
          </a:p>
          <a:p>
            <a:r>
              <a:rPr kumimoji="1" lang="en-US" altLang="ja-JP" sz="800" dirty="0"/>
              <a:t>    const s = </a:t>
            </a:r>
            <a:r>
              <a:rPr kumimoji="1" lang="en-US" altLang="ja-JP" sz="800" dirty="0" err="1"/>
              <a:t>exps.reduce</a:t>
            </a:r>
            <a:r>
              <a:rPr kumimoji="1" lang="en-US" altLang="ja-JP" sz="800" dirty="0"/>
              <a:t>((a, b) =&gt; a + b, 0);</a:t>
            </a:r>
          </a:p>
          <a:p>
            <a:r>
              <a:rPr kumimoji="1" lang="en-US" altLang="ja-JP" sz="800" dirty="0"/>
              <a:t>    return </a:t>
            </a:r>
            <a:r>
              <a:rPr kumimoji="1" lang="en-US" altLang="ja-JP" sz="800" dirty="0" err="1"/>
              <a:t>exps.map</a:t>
            </a:r>
            <a:r>
              <a:rPr kumimoji="1" lang="en-US" altLang="ja-JP" sz="800" dirty="0"/>
              <a:t>(e =&gt; e / s);</a:t>
            </a:r>
          </a:p>
          <a:p>
            <a:r>
              <a:rPr kumimoji="1" lang="en-US" altLang="ja-JP" sz="800" dirty="0"/>
              <a:t>  }</a:t>
            </a:r>
          </a:p>
          <a:p>
            <a:r>
              <a:rPr kumimoji="1" lang="en-US" altLang="ja-JP" sz="800" dirty="0"/>
              <a:t>  // </a:t>
            </a:r>
            <a:r>
              <a:rPr kumimoji="1" lang="ja-JP" altLang="en-US" sz="800"/>
              <a:t>内積</a:t>
            </a:r>
          </a:p>
          <a:p>
            <a:r>
              <a:rPr kumimoji="1" lang="ja-JP" altLang="en-US" sz="800"/>
              <a:t>  </a:t>
            </a:r>
            <a:r>
              <a:rPr kumimoji="1" lang="en-US" altLang="ja-JP" sz="800" dirty="0"/>
              <a:t>dot(a, b) {</a:t>
            </a:r>
          </a:p>
          <a:p>
            <a:r>
              <a:rPr kumimoji="1" lang="en-US" altLang="ja-JP" sz="800" dirty="0"/>
              <a:t>    if (</a:t>
            </a:r>
            <a:r>
              <a:rPr kumimoji="1" lang="en-US" altLang="ja-JP" sz="800" dirty="0" err="1"/>
              <a:t>a.length</a:t>
            </a:r>
            <a:r>
              <a:rPr kumimoji="1" lang="en-US" altLang="ja-JP" sz="800" dirty="0"/>
              <a:t> !== </a:t>
            </a:r>
            <a:r>
              <a:rPr kumimoji="1" lang="en-US" altLang="ja-JP" sz="800" dirty="0" err="1"/>
              <a:t>b.length</a:t>
            </a:r>
            <a:r>
              <a:rPr kumimoji="1" lang="en-US" altLang="ja-JP" sz="800" dirty="0"/>
              <a:t>) throw new Error("</a:t>
            </a:r>
            <a:r>
              <a:rPr kumimoji="1" lang="ja-JP" altLang="en-US" sz="800"/>
              <a:t>次元が一致しません</a:t>
            </a:r>
            <a:r>
              <a:rPr kumimoji="1" lang="en-US" altLang="ja-JP" sz="800" dirty="0"/>
              <a:t>");</a:t>
            </a:r>
          </a:p>
          <a:p>
            <a:r>
              <a:rPr kumimoji="1" lang="en-US" altLang="ja-JP" sz="800" dirty="0"/>
              <a:t>    let s = 0;</a:t>
            </a:r>
          </a:p>
          <a:p>
            <a:r>
              <a:rPr kumimoji="1" lang="en-US" altLang="ja-JP" sz="800" dirty="0"/>
              <a:t>    for (let </a:t>
            </a:r>
            <a:r>
              <a:rPr kumimoji="1" lang="en-US" altLang="ja-JP" sz="800" dirty="0" err="1"/>
              <a:t>i</a:t>
            </a:r>
            <a:r>
              <a:rPr kumimoji="1" lang="en-US" altLang="ja-JP" sz="800" dirty="0"/>
              <a:t> = 0; </a:t>
            </a:r>
            <a:r>
              <a:rPr kumimoji="1" lang="en-US" altLang="ja-JP" sz="800" dirty="0" err="1"/>
              <a:t>i</a:t>
            </a:r>
            <a:r>
              <a:rPr kumimoji="1" lang="en-US" altLang="ja-JP" sz="800" dirty="0"/>
              <a:t> &lt; </a:t>
            </a:r>
            <a:r>
              <a:rPr kumimoji="1" lang="en-US" altLang="ja-JP" sz="800" dirty="0" err="1"/>
              <a:t>a.length</a:t>
            </a:r>
            <a:r>
              <a:rPr kumimoji="1" lang="en-US" altLang="ja-JP" sz="800" dirty="0"/>
              <a:t>; </a:t>
            </a:r>
            <a:r>
              <a:rPr kumimoji="1" lang="en-US" altLang="ja-JP" sz="800" dirty="0" err="1"/>
              <a:t>i</a:t>
            </a:r>
            <a:r>
              <a:rPr kumimoji="1" lang="en-US" altLang="ja-JP" sz="800" dirty="0"/>
              <a:t>++) s += a[</a:t>
            </a:r>
            <a:r>
              <a:rPr kumimoji="1" lang="en-US" altLang="ja-JP" sz="800" dirty="0" err="1"/>
              <a:t>i</a:t>
            </a:r>
            <a:r>
              <a:rPr kumimoji="1" lang="en-US" altLang="ja-JP" sz="800" dirty="0"/>
              <a:t>] * b[</a:t>
            </a:r>
            <a:r>
              <a:rPr kumimoji="1" lang="en-US" altLang="ja-JP" sz="800" dirty="0" err="1"/>
              <a:t>i</a:t>
            </a:r>
            <a:r>
              <a:rPr kumimoji="1" lang="en-US" altLang="ja-JP" sz="800" dirty="0"/>
              <a:t>];</a:t>
            </a:r>
          </a:p>
          <a:p>
            <a:r>
              <a:rPr kumimoji="1" lang="en-US" altLang="ja-JP" sz="800" dirty="0"/>
              <a:t>    return s;</a:t>
            </a:r>
          </a:p>
          <a:p>
            <a:r>
              <a:rPr kumimoji="1" lang="en-US" altLang="ja-JP" sz="800" dirty="0"/>
              <a:t>  }</a:t>
            </a:r>
          </a:p>
          <a:p>
            <a:r>
              <a:rPr kumimoji="1" lang="en-US" altLang="ja-JP" sz="800" dirty="0"/>
              <a:t>  // </a:t>
            </a:r>
            <a:r>
              <a:rPr kumimoji="1" lang="ja-JP" altLang="en-US" sz="800"/>
              <a:t>重み付き和</a:t>
            </a:r>
          </a:p>
          <a:p>
            <a:r>
              <a:rPr kumimoji="1" lang="ja-JP" altLang="en-US" sz="800"/>
              <a:t>  </a:t>
            </a:r>
            <a:r>
              <a:rPr kumimoji="1" lang="en-US" altLang="ja-JP" sz="800" dirty="0" err="1"/>
              <a:t>weightedSum</a:t>
            </a:r>
            <a:r>
              <a:rPr kumimoji="1" lang="en-US" altLang="ja-JP" sz="800" dirty="0"/>
              <a:t>(weights, values) {</a:t>
            </a:r>
          </a:p>
          <a:p>
            <a:r>
              <a:rPr kumimoji="1" lang="en-US" altLang="ja-JP" sz="800" dirty="0"/>
              <a:t>    if (</a:t>
            </a:r>
            <a:r>
              <a:rPr kumimoji="1" lang="en-US" altLang="ja-JP" sz="800" dirty="0" err="1"/>
              <a:t>weights.length</a:t>
            </a:r>
            <a:r>
              <a:rPr kumimoji="1" lang="en-US" altLang="ja-JP" sz="800" dirty="0"/>
              <a:t> !== </a:t>
            </a:r>
            <a:r>
              <a:rPr kumimoji="1" lang="en-US" altLang="ja-JP" sz="800" dirty="0" err="1"/>
              <a:t>values.length</a:t>
            </a:r>
            <a:r>
              <a:rPr kumimoji="1" lang="en-US" altLang="ja-JP" sz="800" dirty="0"/>
              <a:t>) {</a:t>
            </a:r>
          </a:p>
          <a:p>
            <a:r>
              <a:rPr kumimoji="1" lang="en-US" altLang="ja-JP" sz="800" dirty="0"/>
              <a:t>      throw new Error("weights </a:t>
            </a:r>
            <a:r>
              <a:rPr kumimoji="1" lang="ja-JP" altLang="en-US" sz="800"/>
              <a:t>と </a:t>
            </a:r>
            <a:r>
              <a:rPr kumimoji="1" lang="en-US" altLang="ja-JP" sz="800" dirty="0"/>
              <a:t>values </a:t>
            </a:r>
            <a:r>
              <a:rPr kumimoji="1" lang="ja-JP" altLang="en-US" sz="800"/>
              <a:t>の長さが一致しません</a:t>
            </a:r>
            <a:r>
              <a:rPr kumimoji="1" lang="en-US" altLang="ja-JP" sz="800" dirty="0"/>
              <a:t>");</a:t>
            </a:r>
          </a:p>
          <a:p>
            <a:r>
              <a:rPr kumimoji="1" lang="en-US" altLang="ja-JP" sz="800" dirty="0"/>
              <a:t>    }</a:t>
            </a:r>
          </a:p>
          <a:p>
            <a:r>
              <a:rPr kumimoji="1" lang="en-US" altLang="ja-JP" sz="800" dirty="0"/>
              <a:t>    return </a:t>
            </a:r>
            <a:r>
              <a:rPr kumimoji="1" lang="en-US" altLang="ja-JP" sz="800" dirty="0" err="1"/>
              <a:t>values.reduce</a:t>
            </a:r>
            <a:r>
              <a:rPr kumimoji="1" lang="en-US" altLang="ja-JP" sz="800" dirty="0"/>
              <a:t>((acc, v, </a:t>
            </a:r>
            <a:r>
              <a:rPr kumimoji="1" lang="en-US" altLang="ja-JP" sz="800" dirty="0" err="1"/>
              <a:t>i</a:t>
            </a:r>
            <a:r>
              <a:rPr kumimoji="1" lang="en-US" altLang="ja-JP" sz="800" dirty="0"/>
              <a:t>) =&gt; acc + v * weights[</a:t>
            </a:r>
            <a:r>
              <a:rPr kumimoji="1" lang="en-US" altLang="ja-JP" sz="800" dirty="0" err="1"/>
              <a:t>i</a:t>
            </a:r>
            <a:r>
              <a:rPr kumimoji="1" lang="en-US" altLang="ja-JP" sz="800" dirty="0"/>
              <a:t>], 0);</a:t>
            </a:r>
          </a:p>
          <a:p>
            <a:r>
              <a:rPr kumimoji="1" lang="en-US" altLang="ja-JP" sz="800" dirty="0"/>
              <a:t>  }</a:t>
            </a:r>
          </a:p>
          <a:p>
            <a:r>
              <a:rPr kumimoji="1" lang="en-US" altLang="ja-JP" sz="800" dirty="0"/>
              <a:t>  // </a:t>
            </a:r>
            <a:r>
              <a:rPr kumimoji="1" lang="ja-JP" altLang="en-US" sz="800"/>
              <a:t>一括計算</a:t>
            </a:r>
          </a:p>
          <a:p>
            <a:r>
              <a:rPr kumimoji="1" lang="ja-JP" altLang="en-US" sz="800"/>
              <a:t>  </a:t>
            </a:r>
            <a:r>
              <a:rPr kumimoji="1" lang="en-US" altLang="ja-JP" sz="800" dirty="0"/>
              <a:t>compute(query, keys, values) {</a:t>
            </a:r>
          </a:p>
          <a:p>
            <a:r>
              <a:rPr kumimoji="1" lang="en-US" altLang="ja-JP" sz="800" dirty="0"/>
              <a:t>    // </a:t>
            </a:r>
            <a:r>
              <a:rPr kumimoji="1" lang="ja-JP" altLang="en-US" sz="800"/>
              <a:t>入力検証</a:t>
            </a:r>
          </a:p>
          <a:p>
            <a:r>
              <a:rPr kumimoji="1" lang="ja-JP" altLang="en-US" sz="800"/>
              <a:t>    </a:t>
            </a:r>
            <a:r>
              <a:rPr kumimoji="1" lang="en-US" altLang="ja-JP" sz="800" dirty="0"/>
              <a:t>if (!</a:t>
            </a:r>
            <a:r>
              <a:rPr kumimoji="1" lang="en-US" altLang="ja-JP" sz="800" dirty="0" err="1"/>
              <a:t>Array.isArray</a:t>
            </a:r>
            <a:r>
              <a:rPr kumimoji="1" lang="en-US" altLang="ja-JP" sz="800" dirty="0"/>
              <a:t>(query) || !</a:t>
            </a:r>
            <a:r>
              <a:rPr kumimoji="1" lang="en-US" altLang="ja-JP" sz="800" dirty="0" err="1"/>
              <a:t>Array.isArray</a:t>
            </a:r>
            <a:r>
              <a:rPr kumimoji="1" lang="en-US" altLang="ja-JP" sz="800" dirty="0"/>
              <a:t>(keys) || !</a:t>
            </a:r>
            <a:r>
              <a:rPr kumimoji="1" lang="en-US" altLang="ja-JP" sz="800" dirty="0" err="1"/>
              <a:t>Array.isArray</a:t>
            </a:r>
            <a:r>
              <a:rPr kumimoji="1" lang="en-US" altLang="ja-JP" sz="800" dirty="0"/>
              <a:t>(values)) {</a:t>
            </a:r>
          </a:p>
          <a:p>
            <a:r>
              <a:rPr kumimoji="1" lang="en-US" altLang="ja-JP" sz="800" dirty="0"/>
              <a:t>      throw new Error("query/keys/values </a:t>
            </a:r>
            <a:r>
              <a:rPr kumimoji="1" lang="ja-JP" altLang="en-US" sz="800"/>
              <a:t>は配列で指定してください（</a:t>
            </a:r>
            <a:r>
              <a:rPr kumimoji="1" lang="en-US" altLang="ja-JP" sz="800" dirty="0"/>
              <a:t>JSON</a:t>
            </a:r>
            <a:r>
              <a:rPr kumimoji="1" lang="ja-JP" altLang="en-US" sz="800"/>
              <a:t>配列）</a:t>
            </a:r>
            <a:r>
              <a:rPr kumimoji="1" lang="en-US" altLang="ja-JP" sz="800" dirty="0"/>
              <a:t>");</a:t>
            </a:r>
          </a:p>
          <a:p>
            <a:r>
              <a:rPr kumimoji="1" lang="en-US" altLang="ja-JP" sz="800" dirty="0"/>
              <a:t>    }</a:t>
            </a:r>
          </a:p>
          <a:p>
            <a:r>
              <a:rPr kumimoji="1" lang="en-US" altLang="ja-JP" sz="800" dirty="0"/>
              <a:t>    if (</a:t>
            </a:r>
            <a:r>
              <a:rPr kumimoji="1" lang="en-US" altLang="ja-JP" sz="800" dirty="0" err="1"/>
              <a:t>keys.length</a:t>
            </a:r>
            <a:r>
              <a:rPr kumimoji="1" lang="en-US" altLang="ja-JP" sz="800" dirty="0"/>
              <a:t> !== </a:t>
            </a:r>
            <a:r>
              <a:rPr kumimoji="1" lang="en-US" altLang="ja-JP" sz="800" dirty="0" err="1"/>
              <a:t>values.length</a:t>
            </a:r>
            <a:r>
              <a:rPr kumimoji="1" lang="en-US" altLang="ja-JP" sz="800" dirty="0"/>
              <a:t>) {</a:t>
            </a:r>
          </a:p>
          <a:p>
            <a:r>
              <a:rPr kumimoji="1" lang="en-US" altLang="ja-JP" sz="800" dirty="0"/>
              <a:t>      throw new Error("keys</a:t>
            </a:r>
            <a:r>
              <a:rPr kumimoji="1" lang="ja-JP" altLang="en-US" sz="800"/>
              <a:t>配列の個数と </a:t>
            </a:r>
            <a:r>
              <a:rPr kumimoji="1" lang="en-US" altLang="ja-JP" sz="800" dirty="0"/>
              <a:t>values</a:t>
            </a:r>
            <a:r>
              <a:rPr kumimoji="1" lang="ja-JP" altLang="en-US" sz="800"/>
              <a:t>配列の個数は一致させてください</a:t>
            </a:r>
            <a:r>
              <a:rPr kumimoji="1" lang="en-US" altLang="ja-JP" sz="800" dirty="0"/>
              <a:t>");</a:t>
            </a:r>
          </a:p>
          <a:p>
            <a:r>
              <a:rPr kumimoji="1" lang="en-US" altLang="ja-JP" sz="800" dirty="0"/>
              <a:t>    }</a:t>
            </a:r>
          </a:p>
          <a:p>
            <a:r>
              <a:rPr kumimoji="1" lang="en-US" altLang="ja-JP" sz="800" dirty="0"/>
              <a:t>    const d = </a:t>
            </a:r>
            <a:r>
              <a:rPr kumimoji="1" lang="en-US" altLang="ja-JP" sz="800" dirty="0" err="1"/>
              <a:t>query.length</a:t>
            </a:r>
            <a:r>
              <a:rPr kumimoji="1" lang="en-US" altLang="ja-JP" sz="800" dirty="0"/>
              <a:t>;</a:t>
            </a:r>
          </a:p>
          <a:p>
            <a:r>
              <a:rPr kumimoji="1" lang="en-US" altLang="ja-JP" sz="800" dirty="0"/>
              <a:t>    if (!</a:t>
            </a:r>
            <a:r>
              <a:rPr kumimoji="1" lang="en-US" altLang="ja-JP" sz="800" dirty="0" err="1"/>
              <a:t>keys.every</a:t>
            </a:r>
            <a:r>
              <a:rPr kumimoji="1" lang="en-US" altLang="ja-JP" sz="800" dirty="0"/>
              <a:t>(k =&gt; </a:t>
            </a:r>
            <a:r>
              <a:rPr kumimoji="1" lang="en-US" altLang="ja-JP" sz="800" dirty="0" err="1"/>
              <a:t>Array.isArray</a:t>
            </a:r>
            <a:r>
              <a:rPr kumimoji="1" lang="en-US" altLang="ja-JP" sz="800" dirty="0"/>
              <a:t>(k) &amp;&amp; </a:t>
            </a:r>
            <a:r>
              <a:rPr kumimoji="1" lang="en-US" altLang="ja-JP" sz="800" dirty="0" err="1"/>
              <a:t>k.length</a:t>
            </a:r>
            <a:r>
              <a:rPr kumimoji="1" lang="en-US" altLang="ja-JP" sz="800" dirty="0"/>
              <a:t> === d)) {</a:t>
            </a:r>
          </a:p>
          <a:p>
            <a:r>
              <a:rPr kumimoji="1" lang="en-US" altLang="ja-JP" sz="800" dirty="0"/>
              <a:t>      throw new Error("</a:t>
            </a:r>
            <a:r>
              <a:rPr kumimoji="1" lang="ja-JP" altLang="en-US" sz="800"/>
              <a:t>すべての </a:t>
            </a:r>
            <a:r>
              <a:rPr kumimoji="1" lang="en-US" altLang="ja-JP" sz="800" dirty="0"/>
              <a:t>key </a:t>
            </a:r>
            <a:r>
              <a:rPr kumimoji="1" lang="ja-JP" altLang="en-US" sz="800"/>
              <a:t>の次元が </a:t>
            </a:r>
            <a:r>
              <a:rPr kumimoji="1" lang="en-US" altLang="ja-JP" sz="800" dirty="0"/>
              <a:t>query </a:t>
            </a:r>
            <a:r>
              <a:rPr kumimoji="1" lang="ja-JP" altLang="en-US" sz="800"/>
              <a:t>と一致している必要があります</a:t>
            </a:r>
            <a:r>
              <a:rPr kumimoji="1" lang="en-US" altLang="ja-JP" sz="800" dirty="0"/>
              <a:t>");</a:t>
            </a:r>
          </a:p>
          <a:p>
            <a:r>
              <a:rPr kumimoji="1" lang="en-US" altLang="ja-JP" sz="800" dirty="0"/>
              <a:t>    }</a:t>
            </a:r>
          </a:p>
          <a:p>
            <a:r>
              <a:rPr kumimoji="1" lang="en-US" altLang="ja-JP" sz="800" dirty="0"/>
              <a:t>    // </a:t>
            </a:r>
            <a:r>
              <a:rPr kumimoji="1" lang="ja-JP" altLang="en-US" sz="800"/>
              <a:t>計算</a:t>
            </a:r>
          </a:p>
          <a:p>
            <a:r>
              <a:rPr kumimoji="1" lang="ja-JP" altLang="en-US" sz="800"/>
              <a:t>    </a:t>
            </a:r>
            <a:r>
              <a:rPr kumimoji="1" lang="en-US" altLang="ja-JP" sz="800" dirty="0"/>
              <a:t>const </a:t>
            </a:r>
            <a:r>
              <a:rPr kumimoji="1" lang="en-US" altLang="ja-JP" sz="800" dirty="0" err="1"/>
              <a:t>sc</a:t>
            </a:r>
            <a:r>
              <a:rPr kumimoji="1" lang="en-US" altLang="ja-JP" sz="800" dirty="0"/>
              <a:t> = </a:t>
            </a:r>
            <a:r>
              <a:rPr kumimoji="1" lang="en-US" altLang="ja-JP" sz="800" dirty="0" err="1"/>
              <a:t>this.scores</a:t>
            </a:r>
            <a:r>
              <a:rPr kumimoji="1" lang="en-US" altLang="ja-JP" sz="800" dirty="0"/>
              <a:t>(query, keys);                  // QK^T</a:t>
            </a:r>
          </a:p>
          <a:p>
            <a:r>
              <a:rPr kumimoji="1" lang="en-US" altLang="ja-JP" sz="800" dirty="0"/>
              <a:t>    const dk = </a:t>
            </a:r>
            <a:r>
              <a:rPr kumimoji="1" lang="en-US" altLang="ja-JP" sz="800" dirty="0" err="1"/>
              <a:t>Math.sqrt</a:t>
            </a:r>
            <a:r>
              <a:rPr kumimoji="1" lang="en-US" altLang="ja-JP" sz="800" dirty="0"/>
              <a:t>(</a:t>
            </a:r>
            <a:r>
              <a:rPr kumimoji="1" lang="en-US" altLang="ja-JP" sz="800" dirty="0" err="1"/>
              <a:t>query.length</a:t>
            </a:r>
            <a:r>
              <a:rPr kumimoji="1" lang="en-US" altLang="ja-JP" sz="800" dirty="0"/>
              <a:t>);                   // √</a:t>
            </a:r>
            <a:r>
              <a:rPr kumimoji="1" lang="en-US" altLang="ja-JP" sz="800" dirty="0" err="1"/>
              <a:t>d_k</a:t>
            </a:r>
            <a:endParaRPr kumimoji="1" lang="en-US" altLang="ja-JP" sz="800" dirty="0"/>
          </a:p>
          <a:p>
            <a:r>
              <a:rPr kumimoji="1" lang="en-US" altLang="ja-JP" sz="800" dirty="0"/>
              <a:t>    const scaled = </a:t>
            </a:r>
            <a:r>
              <a:rPr kumimoji="1" lang="en-US" altLang="ja-JP" sz="800" dirty="0" err="1"/>
              <a:t>sc.map</a:t>
            </a:r>
            <a:r>
              <a:rPr kumimoji="1" lang="en-US" altLang="ja-JP" sz="800" dirty="0"/>
              <a:t>(s =&gt; s / dk);                   // </a:t>
            </a:r>
            <a:r>
              <a:rPr kumimoji="1" lang="ja-JP" altLang="en-US" sz="800"/>
              <a:t>スケーリング</a:t>
            </a:r>
          </a:p>
          <a:p>
            <a:r>
              <a:rPr kumimoji="1" lang="ja-JP" altLang="en-US" sz="800"/>
              <a:t>    </a:t>
            </a:r>
            <a:r>
              <a:rPr kumimoji="1" lang="en-US" altLang="ja-JP" sz="800" dirty="0"/>
              <a:t>const w = </a:t>
            </a:r>
            <a:r>
              <a:rPr kumimoji="1" lang="en-US" altLang="ja-JP" sz="800" dirty="0" err="1"/>
              <a:t>this.softmax</a:t>
            </a:r>
            <a:r>
              <a:rPr kumimoji="1" lang="en-US" altLang="ja-JP" sz="800" dirty="0"/>
              <a:t>(scaled);                       // </a:t>
            </a:r>
            <a:r>
              <a:rPr kumimoji="1" lang="en-US" altLang="ja-JP" sz="800" dirty="0" err="1"/>
              <a:t>softmax</a:t>
            </a:r>
            <a:endParaRPr kumimoji="1" lang="en-US" altLang="ja-JP" sz="800" dirty="0"/>
          </a:p>
          <a:p>
            <a:r>
              <a:rPr kumimoji="1" lang="en-US" altLang="ja-JP" sz="800" dirty="0"/>
              <a:t>    const y = </a:t>
            </a:r>
            <a:r>
              <a:rPr kumimoji="1" lang="en-US" altLang="ja-JP" sz="800" dirty="0" err="1"/>
              <a:t>this.weightedSum</a:t>
            </a:r>
            <a:r>
              <a:rPr kumimoji="1" lang="en-US" altLang="ja-JP" sz="800" dirty="0"/>
              <a:t>(w, values);                // </a:t>
            </a:r>
            <a:r>
              <a:rPr kumimoji="1" lang="ja-JP" altLang="en-US" sz="800"/>
              <a:t>重み付き和</a:t>
            </a:r>
          </a:p>
          <a:p>
            <a:r>
              <a:rPr kumimoji="1" lang="ja-JP" altLang="en-US" sz="800"/>
              <a:t>    </a:t>
            </a:r>
            <a:r>
              <a:rPr kumimoji="1" lang="en-US" altLang="ja-JP" sz="800" dirty="0"/>
              <a:t>return { scores: </a:t>
            </a:r>
            <a:r>
              <a:rPr kumimoji="1" lang="en-US" altLang="ja-JP" sz="800" dirty="0" err="1"/>
              <a:t>sc</a:t>
            </a:r>
            <a:r>
              <a:rPr kumimoji="1" lang="en-US" altLang="ja-JP" sz="800" dirty="0"/>
              <a:t>, </a:t>
            </a:r>
            <a:r>
              <a:rPr kumimoji="1" lang="en-US" altLang="ja-JP" sz="800" dirty="0" err="1"/>
              <a:t>scaledScores</a:t>
            </a:r>
            <a:r>
              <a:rPr kumimoji="1" lang="en-US" altLang="ja-JP" sz="800" dirty="0"/>
              <a:t>: scaled, weights: w, result: y };</a:t>
            </a:r>
          </a:p>
          <a:p>
            <a:r>
              <a:rPr kumimoji="1" lang="en-US" altLang="ja-JP" sz="800" dirty="0"/>
              <a:t>  }</a:t>
            </a:r>
          </a:p>
          <a:p>
            <a:r>
              <a:rPr kumimoji="1" lang="en-US" altLang="ja-JP" sz="800" dirty="0"/>
              <a:t>}</a:t>
            </a:r>
          </a:p>
          <a:p>
            <a:endParaRPr kumimoji="1" lang="en-US" altLang="ja-JP" sz="800" dirty="0"/>
          </a:p>
          <a:p>
            <a:r>
              <a:rPr kumimoji="1" lang="en-US" altLang="ja-JP" sz="800" dirty="0"/>
              <a:t>// ---- UI </a:t>
            </a:r>
            <a:r>
              <a:rPr kumimoji="1" lang="ja-JP" altLang="en-US" sz="800"/>
              <a:t>まわり </a:t>
            </a:r>
            <a:r>
              <a:rPr kumimoji="1" lang="en-US" altLang="ja-JP" sz="800" dirty="0"/>
              <a:t>----</a:t>
            </a:r>
          </a:p>
          <a:p>
            <a:r>
              <a:rPr kumimoji="1" lang="en-US" altLang="ja-JP" sz="800" dirty="0"/>
              <a:t>function $(id) { return </a:t>
            </a:r>
            <a:r>
              <a:rPr kumimoji="1" lang="en-US" altLang="ja-JP" sz="800" dirty="0" err="1"/>
              <a:t>document.getElementById</a:t>
            </a:r>
            <a:r>
              <a:rPr kumimoji="1" lang="en-US" altLang="ja-JP" sz="800" dirty="0"/>
              <a:t>(id); }</a:t>
            </a:r>
          </a:p>
          <a:p>
            <a:endParaRPr kumimoji="1" lang="en-US" altLang="ja-JP" sz="800" dirty="0"/>
          </a:p>
          <a:p>
            <a:r>
              <a:rPr kumimoji="1" lang="en-US" altLang="ja-JP" sz="800" dirty="0"/>
              <a:t>function pretty(num) {</a:t>
            </a:r>
          </a:p>
          <a:p>
            <a:r>
              <a:rPr kumimoji="1" lang="en-US" altLang="ja-JP" sz="800" dirty="0"/>
              <a:t>  return (</a:t>
            </a:r>
            <a:r>
              <a:rPr kumimoji="1" lang="en-US" altLang="ja-JP" sz="800" dirty="0" err="1"/>
              <a:t>typeof</a:t>
            </a:r>
            <a:r>
              <a:rPr kumimoji="1" lang="en-US" altLang="ja-JP" sz="800" dirty="0"/>
              <a:t> num === "number") ? Number(</a:t>
            </a:r>
            <a:r>
              <a:rPr kumimoji="1" lang="en-US" altLang="ja-JP" sz="800" dirty="0" err="1"/>
              <a:t>num.toFixed</a:t>
            </a:r>
            <a:r>
              <a:rPr kumimoji="1" lang="en-US" altLang="ja-JP" sz="800" dirty="0"/>
              <a:t>(6)) : num;</a:t>
            </a:r>
          </a:p>
          <a:p>
            <a:r>
              <a:rPr kumimoji="1" lang="en-US" altLang="ja-JP" sz="800" dirty="0"/>
              <a:t>}</a:t>
            </a:r>
          </a:p>
          <a:p>
            <a:endParaRPr kumimoji="1" lang="en-US" altLang="ja-JP" sz="800" dirty="0"/>
          </a:p>
          <a:p>
            <a:r>
              <a:rPr kumimoji="1" lang="en-US" altLang="ja-JP" sz="800" dirty="0"/>
              <a:t>function </a:t>
            </a:r>
            <a:r>
              <a:rPr kumimoji="1" lang="en-US" altLang="ja-JP" sz="800" dirty="0" err="1"/>
              <a:t>loadSample</a:t>
            </a:r>
            <a:r>
              <a:rPr kumimoji="1" lang="en-US" altLang="ja-JP" sz="800" dirty="0"/>
              <a:t>() {</a:t>
            </a:r>
          </a:p>
          <a:p>
            <a:r>
              <a:rPr kumimoji="1" lang="en-US" altLang="ja-JP" sz="800" dirty="0"/>
              <a:t>  $("q-input").value = "[1, 0.5, -1]";</a:t>
            </a:r>
          </a:p>
          <a:p>
            <a:r>
              <a:rPr kumimoji="1" lang="en-US" altLang="ja-JP" sz="800" dirty="0"/>
              <a:t>  $("k-input").value = "[[1,0,0],[0,1,0],[0,0,1]]";</a:t>
            </a:r>
          </a:p>
          <a:p>
            <a:r>
              <a:rPr kumimoji="1" lang="en-US" altLang="ja-JP" sz="800" dirty="0"/>
              <a:t>  $("v-input").value = "[10,20,30]";</a:t>
            </a:r>
          </a:p>
          <a:p>
            <a:r>
              <a:rPr kumimoji="1" lang="en-US" altLang="ja-JP" sz="800" dirty="0"/>
              <a:t>  $("notes").</a:t>
            </a:r>
            <a:r>
              <a:rPr kumimoji="1" lang="en-US" altLang="ja-JP" sz="800" dirty="0" err="1"/>
              <a:t>textContent</a:t>
            </a:r>
            <a:r>
              <a:rPr kumimoji="1" lang="en-US" altLang="ja-JP" sz="800" dirty="0"/>
              <a:t> = "</a:t>
            </a:r>
            <a:r>
              <a:rPr kumimoji="1" lang="ja-JP" altLang="en-US" sz="800"/>
              <a:t>サンプルを読み込みました。実行してみましょう。</a:t>
            </a:r>
            <a:r>
              <a:rPr kumimoji="1" lang="en-US" altLang="ja-JP" sz="800" dirty="0"/>
              <a:t>";</a:t>
            </a:r>
          </a:p>
          <a:p>
            <a:r>
              <a:rPr kumimoji="1" lang="en-US" altLang="ja-JP" sz="800" dirty="0"/>
              <a:t>}</a:t>
            </a:r>
          </a:p>
          <a:p>
            <a:endParaRPr kumimoji="1" lang="en-US" altLang="ja-JP" sz="800" dirty="0"/>
          </a:p>
          <a:p>
            <a:r>
              <a:rPr kumimoji="1" lang="en-US" altLang="ja-JP" sz="800" dirty="0"/>
              <a:t>function </a:t>
            </a:r>
            <a:r>
              <a:rPr kumimoji="1" lang="en-US" altLang="ja-JP" sz="800" dirty="0" err="1"/>
              <a:t>runDemo</a:t>
            </a:r>
            <a:r>
              <a:rPr kumimoji="1" lang="en-US" altLang="ja-JP" sz="800" dirty="0"/>
              <a:t>() {</a:t>
            </a:r>
          </a:p>
          <a:p>
            <a:r>
              <a:rPr kumimoji="1" lang="en-US" altLang="ja-JP" sz="800" dirty="0"/>
              <a:t>  const out = $("attn-output");</a:t>
            </a:r>
          </a:p>
          <a:p>
            <a:r>
              <a:rPr kumimoji="1" lang="en-US" altLang="ja-JP" sz="800" dirty="0"/>
              <a:t>  </a:t>
            </a:r>
            <a:r>
              <a:rPr kumimoji="1" lang="en-US" altLang="ja-JP" sz="800" dirty="0" err="1"/>
              <a:t>out.textContent</a:t>
            </a:r>
            <a:r>
              <a:rPr kumimoji="1" lang="en-US" altLang="ja-JP" sz="800" dirty="0"/>
              <a:t> = "";</a:t>
            </a:r>
          </a:p>
          <a:p>
            <a:r>
              <a:rPr kumimoji="1" lang="en-US" altLang="ja-JP" sz="800" dirty="0"/>
              <a:t>  $("notes").</a:t>
            </a:r>
            <a:r>
              <a:rPr kumimoji="1" lang="en-US" altLang="ja-JP" sz="800" dirty="0" err="1"/>
              <a:t>textContent</a:t>
            </a:r>
            <a:r>
              <a:rPr kumimoji="1" lang="en-US" altLang="ja-JP" sz="800" dirty="0"/>
              <a:t> = "";</a:t>
            </a:r>
          </a:p>
          <a:p>
            <a:endParaRPr kumimoji="1" lang="en-US" altLang="ja-JP" sz="800" dirty="0"/>
          </a:p>
          <a:p>
            <a:r>
              <a:rPr kumimoji="1" lang="en-US" altLang="ja-JP" sz="800" dirty="0"/>
              <a:t>  try {</a:t>
            </a:r>
          </a:p>
          <a:p>
            <a:r>
              <a:rPr kumimoji="1" lang="en-US" altLang="ja-JP" sz="800" dirty="0"/>
              <a:t>    const q = </a:t>
            </a:r>
            <a:r>
              <a:rPr kumimoji="1" lang="en-US" altLang="ja-JP" sz="800" dirty="0" err="1"/>
              <a:t>JSON.parse</a:t>
            </a:r>
            <a:r>
              <a:rPr kumimoji="1" lang="en-US" altLang="ja-JP" sz="800" dirty="0"/>
              <a:t>($("q-input").value);</a:t>
            </a:r>
          </a:p>
          <a:p>
            <a:r>
              <a:rPr kumimoji="1" lang="en-US" altLang="ja-JP" sz="800" dirty="0"/>
              <a:t>    const k = </a:t>
            </a:r>
            <a:r>
              <a:rPr kumimoji="1" lang="en-US" altLang="ja-JP" sz="800" dirty="0" err="1"/>
              <a:t>JSON.parse</a:t>
            </a:r>
            <a:r>
              <a:rPr kumimoji="1" lang="en-US" altLang="ja-JP" sz="800" dirty="0"/>
              <a:t>($("k-input").value);</a:t>
            </a:r>
          </a:p>
          <a:p>
            <a:r>
              <a:rPr kumimoji="1" lang="en-US" altLang="ja-JP" sz="800" dirty="0"/>
              <a:t>    const v = </a:t>
            </a:r>
            <a:r>
              <a:rPr kumimoji="1" lang="en-US" altLang="ja-JP" sz="800" dirty="0" err="1"/>
              <a:t>JSON.parse</a:t>
            </a:r>
            <a:r>
              <a:rPr kumimoji="1" lang="en-US" altLang="ja-JP" sz="800" dirty="0"/>
              <a:t>($("v-input").value);</a:t>
            </a:r>
          </a:p>
          <a:p>
            <a:endParaRPr kumimoji="1" lang="en-US" altLang="ja-JP" sz="800" dirty="0"/>
          </a:p>
          <a:p>
            <a:r>
              <a:rPr kumimoji="1" lang="en-US" altLang="ja-JP" sz="800" dirty="0"/>
              <a:t>    const model = new </a:t>
            </a:r>
            <a:r>
              <a:rPr kumimoji="1" lang="en-US" altLang="ja-JP" sz="800" dirty="0" err="1"/>
              <a:t>SimpleAttention</a:t>
            </a:r>
            <a:r>
              <a:rPr kumimoji="1" lang="en-US" altLang="ja-JP" sz="800" dirty="0"/>
              <a:t>();</a:t>
            </a:r>
          </a:p>
          <a:p>
            <a:r>
              <a:rPr kumimoji="1" lang="en-US" altLang="ja-JP" sz="800" dirty="0"/>
              <a:t>    const { scores, </a:t>
            </a:r>
            <a:r>
              <a:rPr kumimoji="1" lang="en-US" altLang="ja-JP" sz="800" dirty="0" err="1"/>
              <a:t>scaledScores</a:t>
            </a:r>
            <a:r>
              <a:rPr kumimoji="1" lang="en-US" altLang="ja-JP" sz="800" dirty="0"/>
              <a:t>, weights, result } = </a:t>
            </a:r>
            <a:r>
              <a:rPr kumimoji="1" lang="en-US" altLang="ja-JP" sz="800" dirty="0" err="1"/>
              <a:t>model.compute</a:t>
            </a:r>
            <a:r>
              <a:rPr kumimoji="1" lang="en-US" altLang="ja-JP" sz="800" dirty="0"/>
              <a:t>(q, k, v);</a:t>
            </a:r>
          </a:p>
          <a:p>
            <a:endParaRPr kumimoji="1" lang="en-US" altLang="ja-JP" sz="800" dirty="0"/>
          </a:p>
          <a:p>
            <a:r>
              <a:rPr kumimoji="1" lang="en-US" altLang="ja-JP" sz="800" dirty="0"/>
              <a:t>    const rows = </a:t>
            </a:r>
            <a:r>
              <a:rPr kumimoji="1" lang="en-US" altLang="ja-JP" sz="800" dirty="0" err="1"/>
              <a:t>weights.map</a:t>
            </a:r>
            <a:r>
              <a:rPr kumimoji="1" lang="en-US" altLang="ja-JP" sz="800" dirty="0"/>
              <a:t>((w, </a:t>
            </a:r>
            <a:r>
              <a:rPr kumimoji="1" lang="en-US" altLang="ja-JP" sz="800" dirty="0" err="1"/>
              <a:t>i</a:t>
            </a:r>
            <a:r>
              <a:rPr kumimoji="1" lang="en-US" altLang="ja-JP" sz="800" dirty="0"/>
              <a:t>) =&gt; ({</a:t>
            </a:r>
          </a:p>
          <a:p>
            <a:r>
              <a:rPr kumimoji="1" lang="en-US" altLang="ja-JP" sz="800" dirty="0"/>
              <a:t>      </a:t>
            </a:r>
            <a:r>
              <a:rPr kumimoji="1" lang="en-US" altLang="ja-JP" sz="800" dirty="0" err="1"/>
              <a:t>i</a:t>
            </a:r>
            <a:r>
              <a:rPr kumimoji="1" lang="en-US" altLang="ja-JP" sz="800" dirty="0"/>
              <a:t>,</a:t>
            </a:r>
          </a:p>
          <a:p>
            <a:r>
              <a:rPr kumimoji="1" lang="en-US" altLang="ja-JP" sz="800" dirty="0"/>
              <a:t>      score: pretty(scores[</a:t>
            </a:r>
            <a:r>
              <a:rPr kumimoji="1" lang="en-US" altLang="ja-JP" sz="800" dirty="0" err="1"/>
              <a:t>i</a:t>
            </a:r>
            <a:r>
              <a:rPr kumimoji="1" lang="en-US" altLang="ja-JP" sz="800" dirty="0"/>
              <a:t>]),</a:t>
            </a:r>
          </a:p>
          <a:p>
            <a:r>
              <a:rPr kumimoji="1" lang="en-US" altLang="ja-JP" sz="800" dirty="0"/>
              <a:t>      scaled: pretty(</a:t>
            </a:r>
            <a:r>
              <a:rPr kumimoji="1" lang="en-US" altLang="ja-JP" sz="800" dirty="0" err="1"/>
              <a:t>scaledScores</a:t>
            </a:r>
            <a:r>
              <a:rPr kumimoji="1" lang="en-US" altLang="ja-JP" sz="800" dirty="0"/>
              <a:t>[</a:t>
            </a:r>
            <a:r>
              <a:rPr kumimoji="1" lang="en-US" altLang="ja-JP" sz="800" dirty="0" err="1"/>
              <a:t>i</a:t>
            </a:r>
            <a:r>
              <a:rPr kumimoji="1" lang="en-US" altLang="ja-JP" sz="800" dirty="0"/>
              <a:t>]),</a:t>
            </a:r>
          </a:p>
          <a:p>
            <a:r>
              <a:rPr kumimoji="1" lang="en-US" altLang="ja-JP" sz="800" dirty="0"/>
              <a:t>      weight: pretty(w),</a:t>
            </a:r>
          </a:p>
          <a:p>
            <a:r>
              <a:rPr kumimoji="1" lang="en-US" altLang="ja-JP" sz="800" dirty="0"/>
              <a:t>      value: pretty(v[</a:t>
            </a:r>
            <a:r>
              <a:rPr kumimoji="1" lang="en-US" altLang="ja-JP" sz="800" dirty="0" err="1"/>
              <a:t>i</a:t>
            </a:r>
            <a:r>
              <a:rPr kumimoji="1" lang="en-US" altLang="ja-JP" sz="800" dirty="0"/>
              <a:t>]),</a:t>
            </a:r>
          </a:p>
          <a:p>
            <a:r>
              <a:rPr kumimoji="1" lang="en-US" altLang="ja-JP" sz="800" dirty="0"/>
              <a:t>      </a:t>
            </a:r>
            <a:r>
              <a:rPr kumimoji="1" lang="en-US" altLang="ja-JP" sz="800" dirty="0" err="1"/>
              <a:t>contrib</a:t>
            </a:r>
            <a:r>
              <a:rPr kumimoji="1" lang="en-US" altLang="ja-JP" sz="800" dirty="0"/>
              <a:t>: pretty(v[</a:t>
            </a:r>
            <a:r>
              <a:rPr kumimoji="1" lang="en-US" altLang="ja-JP" sz="800" dirty="0" err="1"/>
              <a:t>i</a:t>
            </a:r>
            <a:r>
              <a:rPr kumimoji="1" lang="en-US" altLang="ja-JP" sz="800" dirty="0"/>
              <a:t>] * w)</a:t>
            </a:r>
          </a:p>
          <a:p>
            <a:r>
              <a:rPr kumimoji="1" lang="en-US" altLang="ja-JP" sz="800" dirty="0"/>
              <a:t>    }));</a:t>
            </a:r>
          </a:p>
          <a:p>
            <a:endParaRPr kumimoji="1" lang="en-US" altLang="ja-JP" sz="800" dirty="0"/>
          </a:p>
          <a:p>
            <a:r>
              <a:rPr kumimoji="1" lang="en-US" altLang="ja-JP" sz="800" dirty="0"/>
              <a:t>    const table = [</a:t>
            </a:r>
          </a:p>
          <a:p>
            <a:r>
              <a:rPr kumimoji="1" lang="en-US" altLang="ja-JP" sz="800" dirty="0"/>
              <a:t>      ["</a:t>
            </a:r>
            <a:r>
              <a:rPr kumimoji="1" lang="en-US" altLang="ja-JP" sz="800" dirty="0" err="1"/>
              <a:t>Index","Score</a:t>
            </a:r>
            <a:r>
              <a:rPr kumimoji="1" lang="en-US" altLang="ja-JP" sz="800" dirty="0"/>
              <a:t>(Q·Kᵢ)","Scaled(/√d)","Weight(</a:t>
            </a:r>
            <a:r>
              <a:rPr kumimoji="1" lang="en-US" altLang="ja-JP" sz="800" dirty="0" err="1"/>
              <a:t>softmax</a:t>
            </a:r>
            <a:r>
              <a:rPr kumimoji="1" lang="en-US" altLang="ja-JP" sz="800" dirty="0"/>
              <a:t>)","Value(Vᵢ)","Contribution(Vᵢ×wᵢ)"],</a:t>
            </a:r>
          </a:p>
          <a:p>
            <a:r>
              <a:rPr kumimoji="1" lang="en-US" altLang="ja-JP" sz="800" dirty="0"/>
              <a:t>      ...</a:t>
            </a:r>
            <a:r>
              <a:rPr kumimoji="1" lang="en-US" altLang="ja-JP" sz="800" dirty="0" err="1"/>
              <a:t>rows.map</a:t>
            </a:r>
            <a:r>
              <a:rPr kumimoji="1" lang="en-US" altLang="ja-JP" sz="800" dirty="0"/>
              <a:t>(r =&gt; [</a:t>
            </a:r>
            <a:r>
              <a:rPr kumimoji="1" lang="en-US" altLang="ja-JP" sz="800" dirty="0" err="1"/>
              <a:t>r.i</a:t>
            </a:r>
            <a:r>
              <a:rPr kumimoji="1" lang="en-US" altLang="ja-JP" sz="800" dirty="0"/>
              <a:t>, </a:t>
            </a:r>
            <a:r>
              <a:rPr kumimoji="1" lang="en-US" altLang="ja-JP" sz="800" dirty="0" err="1"/>
              <a:t>r.score</a:t>
            </a:r>
            <a:r>
              <a:rPr kumimoji="1" lang="en-US" altLang="ja-JP" sz="800" dirty="0"/>
              <a:t>, </a:t>
            </a:r>
            <a:r>
              <a:rPr kumimoji="1" lang="en-US" altLang="ja-JP" sz="800" dirty="0" err="1"/>
              <a:t>r.scaled</a:t>
            </a:r>
            <a:r>
              <a:rPr kumimoji="1" lang="en-US" altLang="ja-JP" sz="800" dirty="0"/>
              <a:t>, </a:t>
            </a:r>
            <a:r>
              <a:rPr kumimoji="1" lang="en-US" altLang="ja-JP" sz="800" dirty="0" err="1"/>
              <a:t>r.weight</a:t>
            </a:r>
            <a:r>
              <a:rPr kumimoji="1" lang="en-US" altLang="ja-JP" sz="800" dirty="0"/>
              <a:t>, </a:t>
            </a:r>
            <a:r>
              <a:rPr kumimoji="1" lang="en-US" altLang="ja-JP" sz="800" dirty="0" err="1"/>
              <a:t>r.value</a:t>
            </a:r>
            <a:r>
              <a:rPr kumimoji="1" lang="en-US" altLang="ja-JP" sz="800" dirty="0"/>
              <a:t>, </a:t>
            </a:r>
            <a:r>
              <a:rPr kumimoji="1" lang="en-US" altLang="ja-JP" sz="800" dirty="0" err="1"/>
              <a:t>r.contrib</a:t>
            </a:r>
            <a:r>
              <a:rPr kumimoji="1" lang="en-US" altLang="ja-JP" sz="800" dirty="0"/>
              <a:t>])</a:t>
            </a:r>
          </a:p>
          <a:p>
            <a:r>
              <a:rPr kumimoji="1" lang="en-US" altLang="ja-JP" sz="800" dirty="0"/>
              <a:t>    ].map(cols =&gt; </a:t>
            </a:r>
            <a:r>
              <a:rPr kumimoji="1" lang="en-US" altLang="ja-JP" sz="800" dirty="0" err="1"/>
              <a:t>cols.join</a:t>
            </a:r>
            <a:r>
              <a:rPr kumimoji="1" lang="en-US" altLang="ja-JP" sz="800" dirty="0"/>
              <a:t>("\t")).join("\n");</a:t>
            </a:r>
          </a:p>
          <a:p>
            <a:endParaRPr kumimoji="1" lang="en-US" altLang="ja-JP" sz="800" dirty="0"/>
          </a:p>
          <a:p>
            <a:r>
              <a:rPr kumimoji="1" lang="en-US" altLang="ja-JP" sz="800" dirty="0"/>
              <a:t>    </a:t>
            </a:r>
            <a:r>
              <a:rPr kumimoji="1" lang="en-US" altLang="ja-JP" sz="800" dirty="0" err="1"/>
              <a:t>out.textContent</a:t>
            </a:r>
            <a:r>
              <a:rPr kumimoji="1" lang="en-US" altLang="ja-JP" sz="800" dirty="0"/>
              <a:t> =</a:t>
            </a:r>
          </a:p>
          <a:p>
            <a:r>
              <a:rPr kumimoji="1" lang="en-US" altLang="ja-JP" sz="800" dirty="0"/>
              <a:t>      "【Weights </a:t>
            </a:r>
            <a:r>
              <a:rPr kumimoji="1" lang="ja-JP" altLang="en-US" sz="800"/>
              <a:t>と結果</a:t>
            </a:r>
            <a:r>
              <a:rPr kumimoji="1" lang="en-US" altLang="ja-JP" sz="800" dirty="0"/>
              <a:t>】\n" +</a:t>
            </a:r>
          </a:p>
          <a:p>
            <a:r>
              <a:rPr kumimoji="1" lang="en-US" altLang="ja-JP" sz="800" dirty="0"/>
              <a:t>      table + "\n\n" +</a:t>
            </a:r>
          </a:p>
          <a:p>
            <a:r>
              <a:rPr kumimoji="1" lang="en-US" altLang="ja-JP" sz="800" dirty="0"/>
              <a:t>      "Result (</a:t>
            </a:r>
            <a:r>
              <a:rPr kumimoji="1" lang="ja-JP" altLang="en-US" sz="800"/>
              <a:t>重み付き和</a:t>
            </a:r>
            <a:r>
              <a:rPr kumimoji="1" lang="en-US" altLang="ja-JP" sz="800" dirty="0"/>
              <a:t>) = " + pretty(result);</a:t>
            </a:r>
          </a:p>
          <a:p>
            <a:r>
              <a:rPr kumimoji="1" lang="en-US" altLang="ja-JP" sz="800" dirty="0"/>
              <a:t>  } catch (e) {</a:t>
            </a:r>
          </a:p>
          <a:p>
            <a:r>
              <a:rPr kumimoji="1" lang="en-US" altLang="ja-JP" sz="800" dirty="0"/>
              <a:t>    $("notes").</a:t>
            </a:r>
            <a:r>
              <a:rPr kumimoji="1" lang="en-US" altLang="ja-JP" sz="800" dirty="0" err="1"/>
              <a:t>textContent</a:t>
            </a:r>
            <a:r>
              <a:rPr kumimoji="1" lang="en-US" altLang="ja-JP" sz="800" dirty="0"/>
              <a:t> = "⚠️ " + </a:t>
            </a:r>
            <a:r>
              <a:rPr kumimoji="1" lang="en-US" altLang="ja-JP" sz="800" dirty="0" err="1"/>
              <a:t>e.message</a:t>
            </a:r>
            <a:r>
              <a:rPr kumimoji="1" lang="en-US" altLang="ja-JP" sz="800" dirty="0"/>
              <a:t> + "</a:t>
            </a:r>
            <a:r>
              <a:rPr kumimoji="1" lang="ja-JP" altLang="en-US" sz="800"/>
              <a:t>（</a:t>
            </a:r>
            <a:r>
              <a:rPr kumimoji="1" lang="en-US" altLang="ja-JP" sz="800" dirty="0"/>
              <a:t>JSON</a:t>
            </a:r>
            <a:r>
              <a:rPr kumimoji="1" lang="ja-JP" altLang="en-US" sz="800"/>
              <a:t>の形式や次元を確認）</a:t>
            </a:r>
            <a:r>
              <a:rPr kumimoji="1" lang="en-US" altLang="ja-JP" sz="800" dirty="0"/>
              <a:t>";</a:t>
            </a:r>
          </a:p>
          <a:p>
            <a:r>
              <a:rPr kumimoji="1" lang="en-US" altLang="ja-JP" sz="800" dirty="0"/>
              <a:t>  }</a:t>
            </a:r>
          </a:p>
          <a:p>
            <a:r>
              <a:rPr kumimoji="1" lang="en-US" altLang="ja-JP" sz="800" dirty="0"/>
              <a:t>}</a:t>
            </a:r>
          </a:p>
          <a:p>
            <a:endParaRPr kumimoji="1" lang="en-US" altLang="ja-JP" sz="800" dirty="0"/>
          </a:p>
          <a:p>
            <a:r>
              <a:rPr kumimoji="1" lang="en-US" altLang="ja-JP" sz="800" dirty="0" err="1"/>
              <a:t>document.addEventListener</a:t>
            </a:r>
            <a:r>
              <a:rPr kumimoji="1" lang="en-US" altLang="ja-JP" sz="800" dirty="0"/>
              <a:t>("</a:t>
            </a:r>
            <a:r>
              <a:rPr kumimoji="1" lang="en-US" altLang="ja-JP" sz="800" dirty="0" err="1"/>
              <a:t>DOMContentLoaded</a:t>
            </a:r>
            <a:r>
              <a:rPr kumimoji="1" lang="en-US" altLang="ja-JP" sz="800" dirty="0"/>
              <a:t>", () =&gt; {</a:t>
            </a:r>
          </a:p>
          <a:p>
            <a:r>
              <a:rPr kumimoji="1" lang="en-US" altLang="ja-JP" sz="800" dirty="0"/>
              <a:t>  const run = $("run-attn");</a:t>
            </a:r>
          </a:p>
          <a:p>
            <a:r>
              <a:rPr kumimoji="1" lang="en-US" altLang="ja-JP" sz="800" dirty="0"/>
              <a:t>  const sample = $("load-sample");</a:t>
            </a:r>
          </a:p>
          <a:p>
            <a:r>
              <a:rPr kumimoji="1" lang="en-US" altLang="ja-JP" sz="800" dirty="0"/>
              <a:t>  if (run &amp;&amp; sample) {</a:t>
            </a:r>
          </a:p>
          <a:p>
            <a:r>
              <a:rPr kumimoji="1" lang="en-US" altLang="ja-JP" sz="800" dirty="0"/>
              <a:t>    </a:t>
            </a:r>
            <a:r>
              <a:rPr kumimoji="1" lang="en-US" altLang="ja-JP" sz="800" dirty="0" err="1"/>
              <a:t>sample.addEventListener</a:t>
            </a:r>
            <a:r>
              <a:rPr kumimoji="1" lang="en-US" altLang="ja-JP" sz="800" dirty="0"/>
              <a:t>("click", </a:t>
            </a:r>
            <a:r>
              <a:rPr kumimoji="1" lang="en-US" altLang="ja-JP" sz="800" dirty="0" err="1"/>
              <a:t>loadSample</a:t>
            </a:r>
            <a:r>
              <a:rPr kumimoji="1" lang="en-US" altLang="ja-JP" sz="800" dirty="0"/>
              <a:t>);</a:t>
            </a:r>
          </a:p>
          <a:p>
            <a:r>
              <a:rPr kumimoji="1" lang="en-US" altLang="ja-JP" sz="800" dirty="0"/>
              <a:t>    </a:t>
            </a:r>
            <a:r>
              <a:rPr kumimoji="1" lang="en-US" altLang="ja-JP" sz="800" dirty="0" err="1"/>
              <a:t>run.addEventListener</a:t>
            </a:r>
            <a:r>
              <a:rPr kumimoji="1" lang="en-US" altLang="ja-JP" sz="800" dirty="0"/>
              <a:t>("click", </a:t>
            </a:r>
            <a:r>
              <a:rPr kumimoji="1" lang="en-US" altLang="ja-JP" sz="800" dirty="0" err="1"/>
              <a:t>runDemo</a:t>
            </a:r>
            <a:r>
              <a:rPr kumimoji="1" lang="en-US" altLang="ja-JP" sz="800" dirty="0"/>
              <a:t>);</a:t>
            </a:r>
          </a:p>
          <a:p>
            <a:r>
              <a:rPr kumimoji="1" lang="en-US" altLang="ja-JP" sz="800" dirty="0"/>
              <a:t>  }</a:t>
            </a:r>
          </a:p>
          <a:p>
            <a:r>
              <a:rPr kumimoji="1" lang="en-US" altLang="ja-JP" sz="800" dirty="0"/>
              <a:t>});</a:t>
            </a:r>
          </a:p>
          <a:p>
            <a:endParaRPr kumimoji="1" lang="ja-JP" altLang="en-US" sz="800"/>
          </a:p>
        </p:txBody>
      </p:sp>
    </p:spTree>
    <p:extLst>
      <p:ext uri="{BB962C8B-B14F-4D97-AF65-F5344CB8AC3E}">
        <p14:creationId xmlns:p14="http://schemas.microsoft.com/office/powerpoint/2010/main" val="42880560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08AF46-AD30-DB99-38F7-236CF65C5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手順</a:t>
            </a:r>
            <a:r>
              <a:rPr lang="en-US" altLang="ja-JP" dirty="0"/>
              <a:t>2</a:t>
            </a:r>
            <a:r>
              <a:rPr lang="ja-JP" altLang="en-US"/>
              <a:t>：</a:t>
            </a:r>
            <a:r>
              <a:rPr lang="en-US" altLang="ja-JP" dirty="0" err="1"/>
              <a:t>index.html</a:t>
            </a:r>
            <a:r>
              <a:rPr lang="en-US" altLang="ja-JP" dirty="0"/>
              <a:t> </a:t>
            </a:r>
            <a:r>
              <a:rPr lang="ja-JP" altLang="en-US"/>
              <a:t>に </a:t>
            </a:r>
            <a:r>
              <a:rPr lang="en-US" altLang="ja-JP" dirty="0"/>
              <a:t>UI </a:t>
            </a:r>
            <a:r>
              <a:rPr lang="ja-JP" altLang="en-US"/>
              <a:t>セクションとスクリプト読込を追加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5AFB9D-C770-6387-F6BD-7B524D007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48200" cy="4351338"/>
          </a:xfrm>
        </p:spPr>
        <p:txBody>
          <a:bodyPr/>
          <a:lstStyle/>
          <a:p>
            <a:pPr marL="0" indent="0">
              <a:buNone/>
            </a:pPr>
            <a:r>
              <a:rPr lang="ja-JP" altLang="en-US"/>
              <a:t>既存の </a:t>
            </a:r>
            <a:r>
              <a:rPr lang="en-US" altLang="ja-JP" dirty="0" err="1"/>
              <a:t>index.html</a:t>
            </a:r>
            <a:r>
              <a:rPr lang="en-US" altLang="ja-JP" dirty="0"/>
              <a:t> </a:t>
            </a:r>
            <a:r>
              <a:rPr lang="ja-JP" altLang="en-US"/>
              <a:t>を開き、</a:t>
            </a:r>
            <a:r>
              <a:rPr lang="ja-JP" altLang="en-US" b="1"/>
              <a:t>本文の分かりやすい位置（例：「ハンズオン手順」の直前）に以下のセクションを追記。</a:t>
            </a:r>
            <a:br>
              <a:rPr lang="ja-JP" altLang="en-US" b="1"/>
            </a:br>
            <a:r>
              <a:rPr lang="ja-JP" altLang="en-US" b="1"/>
              <a:t>その後、</a:t>
            </a:r>
            <a:r>
              <a:rPr lang="en-US" altLang="ja-JP" b="1" dirty="0"/>
              <a:t>&lt;/body&gt; </a:t>
            </a:r>
            <a:r>
              <a:rPr lang="ja-JP" altLang="en-US" b="1"/>
              <a:t>直前</a:t>
            </a:r>
            <a:r>
              <a:rPr lang="ja-JP" altLang="en-US"/>
              <a:t>で </a:t>
            </a:r>
            <a:r>
              <a:rPr lang="en-US" altLang="ja-JP" dirty="0"/>
              <a:t>attention-</a:t>
            </a:r>
            <a:r>
              <a:rPr lang="en-US" altLang="ja-JP" dirty="0" err="1"/>
              <a:t>demo.js</a:t>
            </a:r>
            <a:r>
              <a:rPr lang="en-US" altLang="ja-JP" dirty="0"/>
              <a:t> </a:t>
            </a:r>
            <a:r>
              <a:rPr lang="ja-JP" altLang="en-US"/>
              <a:t>を読み込み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D874CB6-7403-62AA-3E0F-85887D1ECEAA}"/>
              </a:ext>
            </a:extLst>
          </p:cNvPr>
          <p:cNvSpPr txBox="1"/>
          <p:nvPr/>
        </p:nvSpPr>
        <p:spPr>
          <a:xfrm>
            <a:off x="5818909" y="1825625"/>
            <a:ext cx="6130636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dirty="0"/>
              <a:t>&lt;!-- </a:t>
            </a:r>
            <a:r>
              <a:rPr kumimoji="1" lang="ja-JP" altLang="en-US" sz="800"/>
              <a:t>（中略：既存コンテンツ） </a:t>
            </a:r>
            <a:r>
              <a:rPr kumimoji="1" lang="en-US" altLang="ja-JP" sz="800" dirty="0"/>
              <a:t>--&gt;</a:t>
            </a:r>
          </a:p>
          <a:p>
            <a:endParaRPr kumimoji="1" lang="en-US" altLang="ja-JP" sz="800" dirty="0"/>
          </a:p>
          <a:p>
            <a:r>
              <a:rPr kumimoji="1" lang="en-US" altLang="ja-JP" sz="800" dirty="0"/>
              <a:t>&lt;section id="assignment-a" style="margin-top:2rem;"&gt;</a:t>
            </a:r>
          </a:p>
          <a:p>
            <a:r>
              <a:rPr kumimoji="1" lang="en-US" altLang="ja-JP" sz="800" dirty="0"/>
              <a:t>  &lt;h2&gt;</a:t>
            </a:r>
            <a:r>
              <a:rPr kumimoji="1" lang="ja-JP" altLang="en-US" sz="800"/>
              <a:t>課題</a:t>
            </a:r>
            <a:r>
              <a:rPr kumimoji="1" lang="en-US" altLang="ja-JP" sz="800" dirty="0"/>
              <a:t>A</a:t>
            </a:r>
            <a:r>
              <a:rPr kumimoji="1" lang="ja-JP" altLang="en-US" sz="800"/>
              <a:t>：注意重みの計算サンドボックス</a:t>
            </a:r>
            <a:r>
              <a:rPr kumimoji="1" lang="en-US" altLang="ja-JP" sz="800" dirty="0"/>
              <a:t>&lt;/h2&gt;</a:t>
            </a:r>
          </a:p>
          <a:p>
            <a:r>
              <a:rPr kumimoji="1" lang="en-US" altLang="ja-JP" sz="800" dirty="0"/>
              <a:t>  &lt;p&gt;Query</a:t>
            </a:r>
            <a:r>
              <a:rPr kumimoji="1" lang="ja-JP" altLang="en-US" sz="800"/>
              <a:t>（視点）、</a:t>
            </a:r>
            <a:r>
              <a:rPr kumimoji="1" lang="en-US" altLang="ja-JP" sz="800" dirty="0"/>
              <a:t>Keys</a:t>
            </a:r>
            <a:r>
              <a:rPr kumimoji="1" lang="ja-JP" altLang="en-US" sz="800"/>
              <a:t>（各単語の特徴ベクトル）、</a:t>
            </a:r>
            <a:r>
              <a:rPr kumimoji="1" lang="en-US" altLang="ja-JP" sz="800" dirty="0"/>
              <a:t>Values</a:t>
            </a:r>
            <a:r>
              <a:rPr kumimoji="1" lang="ja-JP" altLang="en-US" sz="800"/>
              <a:t>（各単語の情報量）を</a:t>
            </a:r>
            <a:r>
              <a:rPr kumimoji="1" lang="en-US" altLang="ja-JP" sz="800" dirty="0"/>
              <a:t>JSON</a:t>
            </a:r>
            <a:r>
              <a:rPr kumimoji="1" lang="ja-JP" altLang="en-US" sz="800"/>
              <a:t>配列で入力し、「計算を実行」を押すと、</a:t>
            </a:r>
            <a:r>
              <a:rPr kumimoji="1" lang="en-US" altLang="ja-JP" sz="800" dirty="0"/>
              <a:t>Attention</a:t>
            </a:r>
            <a:r>
              <a:rPr kumimoji="1" lang="ja-JP" altLang="en-US" sz="800"/>
              <a:t>の重みと重み付き和が表示されます。</a:t>
            </a:r>
            <a:r>
              <a:rPr kumimoji="1" lang="en-US" altLang="ja-JP" sz="800" dirty="0"/>
              <a:t>&lt;/p&gt;</a:t>
            </a:r>
          </a:p>
          <a:p>
            <a:endParaRPr kumimoji="1" lang="en-US" altLang="ja-JP" sz="800" dirty="0"/>
          </a:p>
          <a:p>
            <a:r>
              <a:rPr kumimoji="1" lang="en-US" altLang="ja-JP" sz="800" dirty="0"/>
              <a:t>  &lt;div style="</a:t>
            </a:r>
            <a:r>
              <a:rPr kumimoji="1" lang="en-US" altLang="ja-JP" sz="800" dirty="0" err="1"/>
              <a:t>display:grid</a:t>
            </a:r>
            <a:r>
              <a:rPr kumimoji="1" lang="en-US" altLang="ja-JP" sz="800" dirty="0"/>
              <a:t>; gap:12px; grid-template-columns:1fr; max-width:860px;"&gt;</a:t>
            </a:r>
          </a:p>
          <a:p>
            <a:r>
              <a:rPr kumimoji="1" lang="en-US" altLang="ja-JP" sz="800" dirty="0"/>
              <a:t>    &lt;label&gt;</a:t>
            </a:r>
          </a:p>
          <a:p>
            <a:r>
              <a:rPr kumimoji="1" lang="en-US" altLang="ja-JP" sz="800" dirty="0"/>
              <a:t>      &lt;strong&gt;Query</a:t>
            </a:r>
            <a:r>
              <a:rPr kumimoji="1" lang="ja-JP" altLang="en-US" sz="800"/>
              <a:t>（例：</a:t>
            </a:r>
            <a:r>
              <a:rPr kumimoji="1" lang="en-US" altLang="ja-JP" sz="800" dirty="0"/>
              <a:t>[1, 0.5, -1]</a:t>
            </a:r>
            <a:r>
              <a:rPr kumimoji="1" lang="ja-JP" altLang="en-US" sz="800"/>
              <a:t>）</a:t>
            </a:r>
            <a:r>
              <a:rPr kumimoji="1" lang="en-US" altLang="ja-JP" sz="800" dirty="0"/>
              <a:t>&lt;/strong&gt;&lt;</a:t>
            </a:r>
            <a:r>
              <a:rPr kumimoji="1" lang="en-US" altLang="ja-JP" sz="800" dirty="0" err="1"/>
              <a:t>br</a:t>
            </a:r>
            <a:r>
              <a:rPr kumimoji="1" lang="en-US" altLang="ja-JP" sz="800" dirty="0"/>
              <a:t>&gt;</a:t>
            </a:r>
          </a:p>
          <a:p>
            <a:r>
              <a:rPr kumimoji="1" lang="en-US" altLang="ja-JP" sz="800" dirty="0"/>
              <a:t>      &lt;</a:t>
            </a:r>
            <a:r>
              <a:rPr kumimoji="1" lang="en-US" altLang="ja-JP" sz="800" dirty="0" err="1"/>
              <a:t>textarea</a:t>
            </a:r>
            <a:r>
              <a:rPr kumimoji="1" lang="en-US" altLang="ja-JP" sz="800" dirty="0"/>
              <a:t> id="q-input" rows="2" style="width:100%; </a:t>
            </a:r>
            <a:r>
              <a:rPr kumimoji="1" lang="en-US" altLang="ja-JP" sz="800" dirty="0" err="1"/>
              <a:t>font-family:monospace</a:t>
            </a:r>
            <a:r>
              <a:rPr kumimoji="1" lang="en-US" altLang="ja-JP" sz="800" dirty="0"/>
              <a:t>;"&gt;&lt;/</a:t>
            </a:r>
            <a:r>
              <a:rPr kumimoji="1" lang="en-US" altLang="ja-JP" sz="800" dirty="0" err="1"/>
              <a:t>textarea</a:t>
            </a:r>
            <a:r>
              <a:rPr kumimoji="1" lang="en-US" altLang="ja-JP" sz="800" dirty="0"/>
              <a:t>&gt;</a:t>
            </a:r>
          </a:p>
          <a:p>
            <a:r>
              <a:rPr kumimoji="1" lang="en-US" altLang="ja-JP" sz="800" dirty="0"/>
              <a:t>    &lt;/label&gt;</a:t>
            </a:r>
          </a:p>
          <a:p>
            <a:r>
              <a:rPr kumimoji="1" lang="en-US" altLang="ja-JP" sz="800" dirty="0"/>
              <a:t>    &lt;label&gt;</a:t>
            </a:r>
          </a:p>
          <a:p>
            <a:r>
              <a:rPr kumimoji="1" lang="en-US" altLang="ja-JP" sz="800" dirty="0"/>
              <a:t>      &lt;strong&gt;Keys</a:t>
            </a:r>
            <a:r>
              <a:rPr kumimoji="1" lang="ja-JP" altLang="en-US" sz="800"/>
              <a:t>（例：</a:t>
            </a:r>
            <a:r>
              <a:rPr kumimoji="1" lang="en-US" altLang="ja-JP" sz="800" dirty="0"/>
              <a:t>[[1,0,0],[0,1,0],[0,0,1]]</a:t>
            </a:r>
            <a:r>
              <a:rPr kumimoji="1" lang="ja-JP" altLang="en-US" sz="800"/>
              <a:t>）</a:t>
            </a:r>
            <a:r>
              <a:rPr kumimoji="1" lang="en-US" altLang="ja-JP" sz="800" dirty="0"/>
              <a:t>&lt;/strong&gt;&lt;</a:t>
            </a:r>
            <a:r>
              <a:rPr kumimoji="1" lang="en-US" altLang="ja-JP" sz="800" dirty="0" err="1"/>
              <a:t>br</a:t>
            </a:r>
            <a:r>
              <a:rPr kumimoji="1" lang="en-US" altLang="ja-JP" sz="800" dirty="0"/>
              <a:t>&gt;</a:t>
            </a:r>
          </a:p>
          <a:p>
            <a:r>
              <a:rPr kumimoji="1" lang="en-US" altLang="ja-JP" sz="800" dirty="0"/>
              <a:t>      &lt;</a:t>
            </a:r>
            <a:r>
              <a:rPr kumimoji="1" lang="en-US" altLang="ja-JP" sz="800" dirty="0" err="1"/>
              <a:t>textarea</a:t>
            </a:r>
            <a:r>
              <a:rPr kumimoji="1" lang="en-US" altLang="ja-JP" sz="800" dirty="0"/>
              <a:t> id="k-input" rows="3" style="width:100%; </a:t>
            </a:r>
            <a:r>
              <a:rPr kumimoji="1" lang="en-US" altLang="ja-JP" sz="800" dirty="0" err="1"/>
              <a:t>font-family:monospace</a:t>
            </a:r>
            <a:r>
              <a:rPr kumimoji="1" lang="en-US" altLang="ja-JP" sz="800" dirty="0"/>
              <a:t>;"&gt;&lt;/</a:t>
            </a:r>
            <a:r>
              <a:rPr kumimoji="1" lang="en-US" altLang="ja-JP" sz="800" dirty="0" err="1"/>
              <a:t>textarea</a:t>
            </a:r>
            <a:r>
              <a:rPr kumimoji="1" lang="en-US" altLang="ja-JP" sz="800" dirty="0"/>
              <a:t>&gt;</a:t>
            </a:r>
          </a:p>
          <a:p>
            <a:r>
              <a:rPr kumimoji="1" lang="en-US" altLang="ja-JP" sz="800" dirty="0"/>
              <a:t>    &lt;/label&gt;</a:t>
            </a:r>
          </a:p>
          <a:p>
            <a:r>
              <a:rPr kumimoji="1" lang="en-US" altLang="ja-JP" sz="800" dirty="0"/>
              <a:t>    &lt;label&gt;</a:t>
            </a:r>
          </a:p>
          <a:p>
            <a:r>
              <a:rPr kumimoji="1" lang="en-US" altLang="ja-JP" sz="800" dirty="0"/>
              <a:t>      &lt;strong&gt;Values</a:t>
            </a:r>
            <a:r>
              <a:rPr kumimoji="1" lang="ja-JP" altLang="en-US" sz="800"/>
              <a:t>（例：</a:t>
            </a:r>
            <a:r>
              <a:rPr kumimoji="1" lang="en-US" altLang="ja-JP" sz="800" dirty="0"/>
              <a:t>[10,20,30]</a:t>
            </a:r>
            <a:r>
              <a:rPr kumimoji="1" lang="ja-JP" altLang="en-US" sz="800"/>
              <a:t>）</a:t>
            </a:r>
            <a:r>
              <a:rPr kumimoji="1" lang="en-US" altLang="ja-JP" sz="800" dirty="0"/>
              <a:t>&lt;/strong&gt;&lt;</a:t>
            </a:r>
            <a:r>
              <a:rPr kumimoji="1" lang="en-US" altLang="ja-JP" sz="800" dirty="0" err="1"/>
              <a:t>br</a:t>
            </a:r>
            <a:r>
              <a:rPr kumimoji="1" lang="en-US" altLang="ja-JP" sz="800" dirty="0"/>
              <a:t>&gt;</a:t>
            </a:r>
          </a:p>
          <a:p>
            <a:r>
              <a:rPr kumimoji="1" lang="en-US" altLang="ja-JP" sz="800" dirty="0"/>
              <a:t>      &lt;</a:t>
            </a:r>
            <a:r>
              <a:rPr kumimoji="1" lang="en-US" altLang="ja-JP" sz="800" dirty="0" err="1"/>
              <a:t>textarea</a:t>
            </a:r>
            <a:r>
              <a:rPr kumimoji="1" lang="en-US" altLang="ja-JP" sz="800" dirty="0"/>
              <a:t> id="v-input" rows="2" style="width:100%; </a:t>
            </a:r>
            <a:r>
              <a:rPr kumimoji="1" lang="en-US" altLang="ja-JP" sz="800" dirty="0" err="1"/>
              <a:t>font-family:monospace</a:t>
            </a:r>
            <a:r>
              <a:rPr kumimoji="1" lang="en-US" altLang="ja-JP" sz="800" dirty="0"/>
              <a:t>;"&gt;&lt;/</a:t>
            </a:r>
            <a:r>
              <a:rPr kumimoji="1" lang="en-US" altLang="ja-JP" sz="800" dirty="0" err="1"/>
              <a:t>textarea</a:t>
            </a:r>
            <a:r>
              <a:rPr kumimoji="1" lang="en-US" altLang="ja-JP" sz="800" dirty="0"/>
              <a:t>&gt;</a:t>
            </a:r>
          </a:p>
          <a:p>
            <a:r>
              <a:rPr kumimoji="1" lang="en-US" altLang="ja-JP" sz="800" dirty="0"/>
              <a:t>    &lt;/label&gt;</a:t>
            </a:r>
          </a:p>
          <a:p>
            <a:endParaRPr kumimoji="1" lang="en-US" altLang="ja-JP" sz="800" dirty="0"/>
          </a:p>
          <a:p>
            <a:r>
              <a:rPr kumimoji="1" lang="en-US" altLang="ja-JP" sz="800" dirty="0"/>
              <a:t>    &lt;div&gt;</a:t>
            </a:r>
          </a:p>
          <a:p>
            <a:r>
              <a:rPr kumimoji="1" lang="en-US" altLang="ja-JP" sz="800" dirty="0"/>
              <a:t>      &lt;button id="load-sample"&gt;</a:t>
            </a:r>
            <a:r>
              <a:rPr kumimoji="1" lang="ja-JP" altLang="en-US" sz="800"/>
              <a:t>サンプル読み込み</a:t>
            </a:r>
            <a:r>
              <a:rPr kumimoji="1" lang="en-US" altLang="ja-JP" sz="800" dirty="0"/>
              <a:t>&lt;/button&gt;</a:t>
            </a:r>
          </a:p>
          <a:p>
            <a:r>
              <a:rPr kumimoji="1" lang="en-US" altLang="ja-JP" sz="800" dirty="0"/>
              <a:t>      &lt;button id="run-attn"&gt;</a:t>
            </a:r>
            <a:r>
              <a:rPr kumimoji="1" lang="ja-JP" altLang="en-US" sz="800"/>
              <a:t>計算を実行</a:t>
            </a:r>
            <a:r>
              <a:rPr kumimoji="1" lang="en-US" altLang="ja-JP" sz="800" dirty="0"/>
              <a:t>&lt;/button&gt;</a:t>
            </a:r>
          </a:p>
          <a:p>
            <a:r>
              <a:rPr kumimoji="1" lang="en-US" altLang="ja-JP" sz="800" dirty="0"/>
              <a:t>      &lt;span id="notes" style="margin-left:8px; color:#c00;"&gt;&lt;/span&gt;</a:t>
            </a:r>
          </a:p>
          <a:p>
            <a:r>
              <a:rPr kumimoji="1" lang="en-US" altLang="ja-JP" sz="800" dirty="0"/>
              <a:t>    &lt;/div&gt;</a:t>
            </a:r>
          </a:p>
          <a:p>
            <a:endParaRPr kumimoji="1" lang="en-US" altLang="ja-JP" sz="800" dirty="0"/>
          </a:p>
          <a:p>
            <a:r>
              <a:rPr kumimoji="1" lang="en-US" altLang="ja-JP" sz="800" dirty="0"/>
              <a:t>    &lt;pre id="attn-output" style="background:#111; color:#</a:t>
            </a:r>
            <a:r>
              <a:rPr kumimoji="1" lang="en-US" altLang="ja-JP" sz="800" dirty="0" err="1"/>
              <a:t>ddd</a:t>
            </a:r>
            <a:r>
              <a:rPr kumimoji="1" lang="en-US" altLang="ja-JP" sz="800" dirty="0"/>
              <a:t>; padding:12px; border-radius:8px; </a:t>
            </a:r>
            <a:r>
              <a:rPr kumimoji="1" lang="en-US" altLang="ja-JP" sz="800" dirty="0" err="1"/>
              <a:t>overflow:auto</a:t>
            </a:r>
            <a:r>
              <a:rPr kumimoji="1" lang="en-US" altLang="ja-JP" sz="800" dirty="0"/>
              <a:t>;"&gt;&lt;/pre&gt;</a:t>
            </a:r>
          </a:p>
          <a:p>
            <a:r>
              <a:rPr kumimoji="1" lang="en-US" altLang="ja-JP" sz="800" dirty="0"/>
              <a:t>  &lt;/div&gt;</a:t>
            </a:r>
          </a:p>
          <a:p>
            <a:endParaRPr kumimoji="1" lang="en-US" altLang="ja-JP" sz="800" dirty="0"/>
          </a:p>
          <a:p>
            <a:r>
              <a:rPr kumimoji="1" lang="en-US" altLang="ja-JP" sz="800" dirty="0"/>
              <a:t>  &lt;details style="margin-top:8px;"&gt;</a:t>
            </a:r>
          </a:p>
          <a:p>
            <a:r>
              <a:rPr kumimoji="1" lang="en-US" altLang="ja-JP" sz="800" dirty="0"/>
              <a:t>    &lt;summary&gt;</a:t>
            </a:r>
            <a:r>
              <a:rPr kumimoji="1" lang="ja-JP" altLang="en-US" sz="800"/>
              <a:t>ヒント：結果の見方</a:t>
            </a:r>
            <a:r>
              <a:rPr kumimoji="1" lang="en-US" altLang="ja-JP" sz="800" dirty="0"/>
              <a:t>&lt;/summary&gt;</a:t>
            </a:r>
          </a:p>
          <a:p>
            <a:r>
              <a:rPr kumimoji="1" lang="en-US" altLang="ja-JP" sz="800" dirty="0"/>
              <a:t>    &lt;</a:t>
            </a:r>
            <a:r>
              <a:rPr kumimoji="1" lang="en-US" altLang="ja-JP" sz="800" dirty="0" err="1"/>
              <a:t>ul</a:t>
            </a:r>
            <a:r>
              <a:rPr kumimoji="1" lang="en-US" altLang="ja-JP" sz="800" dirty="0"/>
              <a:t>&gt;</a:t>
            </a:r>
          </a:p>
          <a:p>
            <a:r>
              <a:rPr kumimoji="1" lang="en-US" altLang="ja-JP" sz="800" dirty="0"/>
              <a:t>      &lt;li&gt;Score </a:t>
            </a:r>
            <a:r>
              <a:rPr kumimoji="1" lang="ja-JP" altLang="en-US" sz="800"/>
              <a:t>は </a:t>
            </a:r>
            <a:r>
              <a:rPr kumimoji="1" lang="en-US" altLang="ja-JP" sz="800" dirty="0"/>
              <a:t>Q </a:t>
            </a:r>
            <a:r>
              <a:rPr kumimoji="1" lang="ja-JP" altLang="en-US" sz="800"/>
              <a:t>と各 </a:t>
            </a:r>
            <a:r>
              <a:rPr kumimoji="1" lang="en-US" altLang="ja-JP" sz="800" dirty="0"/>
              <a:t>K </a:t>
            </a:r>
            <a:r>
              <a:rPr kumimoji="1" lang="ja-JP" altLang="en-US" sz="800"/>
              <a:t>の内積（関連度）。</a:t>
            </a:r>
            <a:r>
              <a:rPr kumimoji="1" lang="en-US" altLang="ja-JP" sz="800" dirty="0"/>
              <a:t>&lt;/li&gt;</a:t>
            </a:r>
          </a:p>
          <a:p>
            <a:r>
              <a:rPr kumimoji="1" lang="en-US" altLang="ja-JP" sz="800" dirty="0"/>
              <a:t>      &lt;li&gt;Scaled </a:t>
            </a:r>
            <a:r>
              <a:rPr kumimoji="1" lang="ja-JP" altLang="en-US" sz="800"/>
              <a:t>は </a:t>
            </a:r>
            <a:r>
              <a:rPr kumimoji="1" lang="en-US" altLang="ja-JP" sz="800" dirty="0"/>
              <a:t>Score </a:t>
            </a:r>
            <a:r>
              <a:rPr kumimoji="1" lang="ja-JP" altLang="en-US" sz="800"/>
              <a:t>を √</a:t>
            </a:r>
            <a:r>
              <a:rPr kumimoji="1" lang="en-US" altLang="ja-JP" sz="800" dirty="0"/>
              <a:t>d&lt;sub&gt;k&lt;/sub&gt; </a:t>
            </a:r>
            <a:r>
              <a:rPr kumimoji="1" lang="ja-JP" altLang="en-US" sz="800"/>
              <a:t>で割った値（数値の安定化）。</a:t>
            </a:r>
            <a:r>
              <a:rPr kumimoji="1" lang="en-US" altLang="ja-JP" sz="800" dirty="0"/>
              <a:t>&lt;/li&gt;</a:t>
            </a:r>
          </a:p>
          <a:p>
            <a:r>
              <a:rPr kumimoji="1" lang="en-US" altLang="ja-JP" sz="800" dirty="0"/>
              <a:t>      &lt;li&gt;Weight </a:t>
            </a:r>
            <a:r>
              <a:rPr kumimoji="1" lang="ja-JP" altLang="en-US" sz="800"/>
              <a:t>は </a:t>
            </a:r>
            <a:r>
              <a:rPr kumimoji="1" lang="en-US" altLang="ja-JP" sz="800" dirty="0" err="1"/>
              <a:t>softmax</a:t>
            </a:r>
            <a:r>
              <a:rPr kumimoji="1" lang="en-US" altLang="ja-JP" sz="800" dirty="0"/>
              <a:t> </a:t>
            </a:r>
            <a:r>
              <a:rPr kumimoji="1" lang="ja-JP" altLang="en-US" sz="800"/>
              <a:t>で正規化された注目度（合計</a:t>
            </a:r>
            <a:r>
              <a:rPr kumimoji="1" lang="en-US" altLang="ja-JP" sz="800" dirty="0"/>
              <a:t>1</a:t>
            </a:r>
            <a:r>
              <a:rPr kumimoji="1" lang="ja-JP" altLang="en-US" sz="800"/>
              <a:t>）。</a:t>
            </a:r>
            <a:r>
              <a:rPr kumimoji="1" lang="en-US" altLang="ja-JP" sz="800" dirty="0"/>
              <a:t>&lt;/li&gt;</a:t>
            </a:r>
          </a:p>
          <a:p>
            <a:r>
              <a:rPr kumimoji="1" lang="en-US" altLang="ja-JP" sz="800" dirty="0"/>
              <a:t>      &lt;li&gt;Result </a:t>
            </a:r>
            <a:r>
              <a:rPr kumimoji="1" lang="ja-JP" altLang="en-US" sz="800"/>
              <a:t>は </a:t>
            </a:r>
            <a:r>
              <a:rPr kumimoji="1" lang="en-US" altLang="ja-JP" sz="800" dirty="0"/>
              <a:t>Value </a:t>
            </a:r>
            <a:r>
              <a:rPr kumimoji="1" lang="ja-JP" altLang="en-US" sz="800"/>
              <a:t>の重み付き和（</a:t>
            </a:r>
            <a:r>
              <a:rPr kumimoji="1" lang="en-US" altLang="ja-JP" sz="800" dirty="0"/>
              <a:t>Attention </a:t>
            </a:r>
            <a:r>
              <a:rPr kumimoji="1" lang="ja-JP" altLang="en-US" sz="800"/>
              <a:t>の出力）。</a:t>
            </a:r>
            <a:r>
              <a:rPr kumimoji="1" lang="en-US" altLang="ja-JP" sz="800" dirty="0"/>
              <a:t>&lt;/li&gt;</a:t>
            </a:r>
          </a:p>
          <a:p>
            <a:r>
              <a:rPr kumimoji="1" lang="en-US" altLang="ja-JP" sz="800" dirty="0"/>
              <a:t>    &lt;/</a:t>
            </a:r>
            <a:r>
              <a:rPr kumimoji="1" lang="en-US" altLang="ja-JP" sz="800" dirty="0" err="1"/>
              <a:t>ul</a:t>
            </a:r>
            <a:r>
              <a:rPr kumimoji="1" lang="en-US" altLang="ja-JP" sz="800" dirty="0"/>
              <a:t>&gt;</a:t>
            </a:r>
          </a:p>
          <a:p>
            <a:r>
              <a:rPr kumimoji="1" lang="en-US" altLang="ja-JP" sz="800" dirty="0"/>
              <a:t>  &lt;/details&gt;</a:t>
            </a:r>
          </a:p>
          <a:p>
            <a:r>
              <a:rPr kumimoji="1" lang="en-US" altLang="ja-JP" sz="800" dirty="0"/>
              <a:t>&lt;/section&gt;</a:t>
            </a:r>
          </a:p>
          <a:p>
            <a:endParaRPr kumimoji="1" lang="en-US" altLang="ja-JP" sz="800" dirty="0"/>
          </a:p>
          <a:p>
            <a:r>
              <a:rPr kumimoji="1" lang="en-US" altLang="ja-JP" sz="800" dirty="0"/>
              <a:t>&lt;!-- </a:t>
            </a:r>
            <a:r>
              <a:rPr kumimoji="1" lang="ja-JP" altLang="en-US" sz="800"/>
              <a:t>（中略：既存コンテンツ） </a:t>
            </a:r>
            <a:r>
              <a:rPr kumimoji="1" lang="en-US" altLang="ja-JP" sz="800" dirty="0"/>
              <a:t>--&gt;</a:t>
            </a:r>
          </a:p>
          <a:p>
            <a:endParaRPr kumimoji="1" lang="en-US" altLang="ja-JP" sz="800" dirty="0"/>
          </a:p>
          <a:p>
            <a:r>
              <a:rPr kumimoji="1" lang="en-US" altLang="ja-JP" sz="800" dirty="0"/>
              <a:t>&lt;!-- </a:t>
            </a:r>
            <a:r>
              <a:rPr kumimoji="1" lang="ja-JP" altLang="en-US" sz="800"/>
              <a:t>既存のスクリプトの後で読み込めば</a:t>
            </a:r>
            <a:r>
              <a:rPr kumimoji="1" lang="en-US" altLang="ja-JP" sz="800" dirty="0"/>
              <a:t>OK --&gt;</a:t>
            </a:r>
          </a:p>
          <a:p>
            <a:r>
              <a:rPr kumimoji="1" lang="en-US" altLang="ja-JP" sz="800" dirty="0"/>
              <a:t>&lt;script </a:t>
            </a:r>
            <a:r>
              <a:rPr kumimoji="1" lang="en-US" altLang="ja-JP" sz="800" dirty="0" err="1"/>
              <a:t>src</a:t>
            </a:r>
            <a:r>
              <a:rPr kumimoji="1" lang="en-US" altLang="ja-JP" sz="800" dirty="0"/>
              <a:t>="</a:t>
            </a:r>
            <a:r>
              <a:rPr kumimoji="1" lang="en-US" altLang="ja-JP" sz="800" dirty="0" err="1"/>
              <a:t>js</a:t>
            </a:r>
            <a:r>
              <a:rPr kumimoji="1" lang="en-US" altLang="ja-JP" sz="800" dirty="0"/>
              <a:t>/attention-</a:t>
            </a:r>
            <a:r>
              <a:rPr kumimoji="1" lang="en-US" altLang="ja-JP" sz="800" dirty="0" err="1"/>
              <a:t>demo.js</a:t>
            </a:r>
            <a:r>
              <a:rPr kumimoji="1" lang="en-US" altLang="ja-JP" sz="800" dirty="0"/>
              <a:t>"&gt;&lt;/script&gt;</a:t>
            </a:r>
          </a:p>
          <a:p>
            <a:r>
              <a:rPr kumimoji="1" lang="en-US" altLang="ja-JP" sz="800" dirty="0"/>
              <a:t>&lt;/body&gt;</a:t>
            </a:r>
          </a:p>
          <a:p>
            <a:r>
              <a:rPr kumimoji="1" lang="en-US" altLang="ja-JP" sz="800" dirty="0"/>
              <a:t>&lt;/html&gt;</a:t>
            </a:r>
          </a:p>
          <a:p>
            <a:endParaRPr kumimoji="1" lang="ja-JP" altLang="en-US" sz="800"/>
          </a:p>
        </p:txBody>
      </p:sp>
    </p:spTree>
    <p:extLst>
      <p:ext uri="{BB962C8B-B14F-4D97-AF65-F5344CB8AC3E}">
        <p14:creationId xmlns:p14="http://schemas.microsoft.com/office/powerpoint/2010/main" val="1127656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751BA0-59C8-203C-93D7-A388653E6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35182"/>
          </a:xfrm>
        </p:spPr>
        <p:txBody>
          <a:bodyPr/>
          <a:lstStyle/>
          <a:p>
            <a:r>
              <a:rPr lang="ja-JP" altLang="en-US"/>
              <a:t>手順</a:t>
            </a:r>
            <a:r>
              <a:rPr lang="en-US" altLang="ja-JP" dirty="0"/>
              <a:t>3</a:t>
            </a:r>
            <a:r>
              <a:rPr lang="ja-JP" altLang="en-US"/>
              <a:t>：</a:t>
            </a:r>
            <a:r>
              <a:rPr lang="en-US" altLang="ja-JP" dirty="0"/>
              <a:t>Live Server</a:t>
            </a:r>
            <a:r>
              <a:rPr lang="ja-JP" altLang="en-US"/>
              <a:t>で実行と検証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EFA9C8-FF96-589E-2691-535FD4690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5183"/>
            <a:ext cx="10515600" cy="5922817"/>
          </a:xfrm>
        </p:spPr>
        <p:txBody>
          <a:bodyPr>
            <a:normAutofit fontScale="92500" lnSpcReduction="10000"/>
          </a:bodyPr>
          <a:lstStyle/>
          <a:p>
            <a:pPr>
              <a:buFont typeface="+mj-lt"/>
              <a:buAutoNum type="arabicPeriod"/>
            </a:pPr>
            <a:r>
              <a:rPr lang="en-US" altLang="ja-JP" dirty="0"/>
              <a:t>VS Code </a:t>
            </a:r>
            <a:r>
              <a:rPr lang="ja-JP" altLang="en-US"/>
              <a:t>で </a:t>
            </a:r>
            <a:r>
              <a:rPr lang="en-US" altLang="ja-JP" dirty="0" err="1"/>
              <a:t>index.html</a:t>
            </a:r>
            <a:r>
              <a:rPr lang="en-US" altLang="ja-JP" dirty="0"/>
              <a:t> </a:t>
            </a:r>
            <a:r>
              <a:rPr lang="ja-JP" altLang="en-US"/>
              <a:t>を右クリック → </a:t>
            </a:r>
            <a:r>
              <a:rPr lang="en-US" altLang="ja-JP" b="1" dirty="0"/>
              <a:t>Open with Live Server</a:t>
            </a:r>
            <a:endParaRPr lang="en-US" altLang="ja-JP" dirty="0"/>
          </a:p>
          <a:p>
            <a:pPr>
              <a:buFont typeface="+mj-lt"/>
              <a:buAutoNum type="arabicPeriod"/>
            </a:pPr>
            <a:r>
              <a:rPr lang="ja-JP" altLang="en-US"/>
              <a:t>画面内の「課題</a:t>
            </a:r>
            <a:r>
              <a:rPr lang="en-US" altLang="ja-JP" dirty="0"/>
              <a:t>A</a:t>
            </a:r>
            <a:r>
              <a:rPr lang="ja-JP" altLang="en-US"/>
              <a:t>」セクションで「サンプル読み込み → 計算を実行」</a:t>
            </a:r>
          </a:p>
          <a:p>
            <a:pPr>
              <a:buFont typeface="+mj-lt"/>
              <a:buAutoNum type="arabicPeriod"/>
            </a:pPr>
            <a:r>
              <a:rPr lang="ja-JP" altLang="en-US"/>
              <a:t>期待される例（丸めにより</a:t>
            </a:r>
            <a:r>
              <a:rPr lang="en-US" altLang="ja-JP" dirty="0"/>
              <a:t>±</a:t>
            </a:r>
            <a:r>
              <a:rPr lang="ja-JP" altLang="en-US"/>
              <a:t>少誤差あり）</a:t>
            </a:r>
          </a:p>
          <a:p>
            <a:pPr marL="742950" lvl="1" indent="-285750">
              <a:buFont typeface="+mj-lt"/>
              <a:buAutoNum type="arabicPeriod"/>
            </a:pPr>
            <a:r>
              <a:rPr lang="ja-JP" altLang="en-US"/>
              <a:t>入力：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altLang="ja-JP" dirty="0"/>
              <a:t>Q = [1, 0.5, -1]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altLang="ja-JP" dirty="0"/>
              <a:t>K = [[1,0,0],[0,1,0],[0,0,1]]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altLang="ja-JP" dirty="0"/>
              <a:t>V = [10,20,30]</a:t>
            </a:r>
          </a:p>
          <a:p>
            <a:pPr marL="742950" lvl="1" indent="-285750">
              <a:buFont typeface="+mj-lt"/>
              <a:buAutoNum type="arabicPeriod"/>
            </a:pPr>
            <a:r>
              <a:rPr lang="ja-JP" altLang="en-US"/>
              <a:t>出力（概算）：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altLang="ja-JP" dirty="0"/>
              <a:t>Weights ≈ [0.574, 0.348, 0.078]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altLang="ja-JP" dirty="0"/>
              <a:t>Result</a:t>
            </a:r>
            <a:r>
              <a:rPr lang="ja-JP" altLang="en-US"/>
              <a:t>（重み付き和） ≈ </a:t>
            </a:r>
            <a:r>
              <a:rPr lang="en-US" altLang="ja-JP" dirty="0"/>
              <a:t>15.036</a:t>
            </a: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/>
              <a:t>追加確認：</a:t>
            </a:r>
            <a:r>
              <a:rPr lang="en-US" altLang="ja-JP" dirty="0"/>
              <a:t>Q </a:t>
            </a:r>
            <a:r>
              <a:rPr lang="ja-JP" altLang="en-US"/>
              <a:t>を </a:t>
            </a:r>
            <a:r>
              <a:rPr lang="en-US" altLang="ja-JP" dirty="0"/>
              <a:t>[0,1,0] </a:t>
            </a:r>
            <a:r>
              <a:rPr lang="ja-JP" altLang="en-US"/>
              <a:t>にすると </a:t>
            </a:r>
            <a:r>
              <a:rPr lang="en-US" altLang="ja-JP" dirty="0"/>
              <a:t>Weights ≈ [0.212, 0.576, 0.212]</a:t>
            </a:r>
            <a:r>
              <a:rPr lang="ja-JP" altLang="en-US"/>
              <a:t>、</a:t>
            </a:r>
            <a:r>
              <a:rPr lang="en-US" altLang="ja-JP" dirty="0"/>
              <a:t>Result ≈ 20.000</a:t>
            </a:r>
            <a:br>
              <a:rPr lang="en-US" altLang="ja-JP" dirty="0"/>
            </a:br>
            <a:r>
              <a:rPr lang="ja-JP" altLang="en-US"/>
              <a:t>「視点（</a:t>
            </a:r>
            <a:r>
              <a:rPr lang="en-US" altLang="ja-JP" dirty="0"/>
              <a:t>Q</a:t>
            </a:r>
            <a:r>
              <a:rPr lang="ja-JP" altLang="en-US"/>
              <a:t>）」がどの </a:t>
            </a:r>
            <a:r>
              <a:rPr lang="en-US" altLang="ja-JP" dirty="0"/>
              <a:t>Value </a:t>
            </a:r>
            <a:r>
              <a:rPr lang="ja-JP" altLang="en-US"/>
              <a:t>を強く採るかが変わることを体感できます。</a:t>
            </a:r>
          </a:p>
          <a:p>
            <a:pPr marL="0" indent="0">
              <a:buNone/>
            </a:pP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10036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1FCE09-5345-2CBC-53B6-00D131DFE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観察・記録（レポート課題）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69D020-1F89-54B2-651B-5E0EE0360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Q </a:t>
            </a:r>
            <a:r>
              <a:rPr lang="ja-JP" altLang="en-US"/>
              <a:t>を </a:t>
            </a:r>
            <a:r>
              <a:rPr lang="en-US" altLang="ja-JP" dirty="0"/>
              <a:t>3</a:t>
            </a:r>
            <a:r>
              <a:rPr lang="ja-JP" altLang="en-US"/>
              <a:t>パターン変更し、</a:t>
            </a:r>
            <a:r>
              <a:rPr lang="en-US" altLang="ja-JP" dirty="0"/>
              <a:t>Weights </a:t>
            </a:r>
            <a:r>
              <a:rPr lang="ja-JP" altLang="en-US"/>
              <a:t>と </a:t>
            </a:r>
            <a:r>
              <a:rPr lang="en-US" altLang="ja-JP" dirty="0"/>
              <a:t>Result </a:t>
            </a:r>
            <a:r>
              <a:rPr lang="ja-JP" altLang="en-US"/>
              <a:t>を表で記録</a:t>
            </a:r>
          </a:p>
          <a:p>
            <a:r>
              <a:rPr lang="ja-JP" altLang="en-US"/>
              <a:t>「どの成分が大きいと、どの単語（</a:t>
            </a:r>
            <a:r>
              <a:rPr lang="en-US" altLang="ja-JP" dirty="0"/>
              <a:t>Value</a:t>
            </a:r>
            <a:r>
              <a:rPr lang="ja-JP" altLang="en-US"/>
              <a:t>）が強く選ばれるか」を文章で説明</a:t>
            </a:r>
          </a:p>
          <a:p>
            <a:r>
              <a:rPr lang="en-US" altLang="ja-JP" dirty="0"/>
              <a:t>keys </a:t>
            </a:r>
            <a:r>
              <a:rPr lang="ja-JP" altLang="en-US"/>
              <a:t>を基底ベクトル以外（例：斜め方向 </a:t>
            </a:r>
            <a:r>
              <a:rPr lang="en-US" altLang="ja-JP" dirty="0"/>
              <a:t>[0.7, 0.7, 0] </a:t>
            </a:r>
            <a:r>
              <a:rPr lang="ja-JP" altLang="en-US"/>
              <a:t>など）に変更し、</a:t>
            </a:r>
            <a:r>
              <a:rPr lang="en-US" altLang="ja-JP" dirty="0"/>
              <a:t>Weights </a:t>
            </a:r>
            <a:r>
              <a:rPr lang="ja-JP" altLang="en-US"/>
              <a:t>の変化を考察</a:t>
            </a:r>
          </a:p>
          <a:p>
            <a:r>
              <a:rPr lang="ja-JP" altLang="en-US"/>
              <a:t>（上級）</a:t>
            </a:r>
            <a:r>
              <a:rPr lang="en-US" altLang="ja-JP" dirty="0"/>
              <a:t>compute </a:t>
            </a:r>
            <a:r>
              <a:rPr lang="ja-JP" altLang="en-US"/>
              <a:t>内の </a:t>
            </a:r>
            <a:r>
              <a:rPr lang="en-US" altLang="ja-JP" dirty="0"/>
              <a:t>scaled </a:t>
            </a:r>
            <a:r>
              <a:rPr lang="ja-JP" altLang="en-US"/>
              <a:t>をコメントアウトして、スケーリングの有無で </a:t>
            </a:r>
            <a:r>
              <a:rPr lang="en-US" altLang="ja-JP" dirty="0"/>
              <a:t>Weights </a:t>
            </a:r>
            <a:r>
              <a:rPr lang="ja-JP" altLang="en-US"/>
              <a:t>がどう変わるか比較</a:t>
            </a:r>
          </a:p>
          <a:p>
            <a:pPr marL="0" indent="0">
              <a:buNone/>
            </a:pP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34513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43134B-E40A-7ADB-F966-D502A703A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 dirty="0"/>
              <a:t>B: Temperature</a:t>
            </a:r>
            <a:r>
              <a:rPr lang="ja-JP" altLang="en-US"/>
              <a:t>と創造性の関係を実験する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34E596-5CB4-C937-2084-9D6B316D3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1939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 err="1"/>
              <a:t>config.js</a:t>
            </a:r>
            <a:r>
              <a:rPr lang="en-US" altLang="ja-JP" dirty="0"/>
              <a:t> </a:t>
            </a:r>
            <a:r>
              <a:rPr lang="ja-JP" altLang="en-US"/>
              <a:t>の </a:t>
            </a:r>
            <a:r>
              <a:rPr lang="en-US" altLang="ja-JP" dirty="0"/>
              <a:t>temperature </a:t>
            </a:r>
            <a:r>
              <a:rPr lang="ja-JP" altLang="en-US"/>
              <a:t>を変更し、</a:t>
            </a:r>
            <a:r>
              <a:rPr lang="en-US" altLang="ja-JP" dirty="0"/>
              <a:t>AI</a:t>
            </a:r>
            <a:r>
              <a:rPr lang="ja-JP" altLang="en-US"/>
              <a:t>の出力の違いを観察</a:t>
            </a:r>
            <a:endParaRPr lang="en-US" altLang="ja-JP" dirty="0"/>
          </a:p>
          <a:p>
            <a:pPr marL="0" indent="0">
              <a:buNone/>
            </a:pPr>
            <a:endParaRPr kumimoji="1" lang="ja-JP" altLang="en-US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C3EEE010-5406-895D-6AE0-D309E6204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270159"/>
              </p:ext>
            </p:extLst>
          </p:nvPr>
        </p:nvGraphicFramePr>
        <p:xfrm>
          <a:off x="838200" y="2462501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49573532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0054413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251033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ja-JP" altLang="en-US"/>
                        <a:t>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特徴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試す質問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7189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ja-JP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論理的・再現性高い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「AI</a:t>
                      </a:r>
                      <a:r>
                        <a:rPr lang="ja-JP" altLang="en-US"/>
                        <a:t>とは何ですか？」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0816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ja-JP"/>
                        <a:t>0.7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バランス型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同上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2958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ja-JP"/>
                        <a:t>1.2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創造的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/>
                        <a:t>同上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275681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D049DBC-0F52-29FD-50EA-986394C3889C}"/>
              </a:ext>
            </a:extLst>
          </p:cNvPr>
          <p:cNvSpPr txBox="1"/>
          <p:nvPr/>
        </p:nvSpPr>
        <p:spPr>
          <a:xfrm>
            <a:off x="838200" y="5278582"/>
            <a:ext cx="1134477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b="1">
                <a:latin typeface="Meiryo" panose="020B0604030504040204" pitchFamily="34" charset="-128"/>
                <a:ea typeface="Meiryo" panose="020B0604030504040204" pitchFamily="34" charset="-128"/>
              </a:rPr>
              <a:t>考察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：温度が上がると、</a:t>
            </a:r>
            <a:r>
              <a:rPr lang="en-US" altLang="ja-JP" sz="2800" dirty="0">
                <a:latin typeface="Meiryo" panose="020B0604030504040204" pitchFamily="34" charset="-128"/>
                <a:ea typeface="Meiryo" panose="020B0604030504040204" pitchFamily="34" charset="-128"/>
              </a:rPr>
              <a:t>AI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はなぜ柔軟な発想をするようになるのか？</a:t>
            </a:r>
            <a:b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→ </a:t>
            </a:r>
            <a:r>
              <a:rPr lang="en-US" altLang="ja-JP" sz="2800" dirty="0">
                <a:latin typeface="Meiryo" panose="020B0604030504040204" pitchFamily="34" charset="-128"/>
                <a:ea typeface="Meiryo" panose="020B0604030504040204" pitchFamily="34" charset="-128"/>
              </a:rPr>
              <a:t>LLM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が確率分布から単語を選ぶ仕組みを思い出して説明しよう。</a:t>
            </a:r>
            <a:endParaRPr kumimoji="1" lang="ja-JP" altLang="en-US" sz="28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928356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6E56FE-8678-B61F-127D-795E39AF5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 dirty="0"/>
              <a:t>C: Transformer</a:t>
            </a:r>
            <a:r>
              <a:rPr lang="ja-JP" altLang="en-US"/>
              <a:t>の「注意の範囲」を可視化する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B8869C3-4C03-F034-EDE8-CB3F7432D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257800" cy="48245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dirty="0" err="1"/>
              <a:t>SimpleAttention</a:t>
            </a:r>
            <a:r>
              <a:rPr lang="en-US" altLang="ja-JP" dirty="0"/>
              <a:t> </a:t>
            </a:r>
            <a:r>
              <a:rPr lang="ja-JP" altLang="en-US"/>
              <a:t>クラスを拡張し、異なる </a:t>
            </a:r>
            <a:r>
              <a:rPr lang="en-US" altLang="ja-JP" dirty="0"/>
              <a:t>query </a:t>
            </a:r>
            <a:r>
              <a:rPr lang="ja-JP" altLang="en-US"/>
              <a:t>を入力してどの単語に注目するかを比較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b="1"/>
              <a:t>結果を解釈</a:t>
            </a:r>
            <a:r>
              <a:rPr lang="ja-JP" altLang="en-US"/>
              <a:t>：</a:t>
            </a:r>
            <a:br>
              <a:rPr lang="ja-JP" altLang="en-US"/>
            </a:br>
            <a:r>
              <a:rPr lang="ja-JP" altLang="en-US"/>
              <a:t>どの</a:t>
            </a:r>
            <a:r>
              <a:rPr lang="en-US" altLang="ja-JP" dirty="0"/>
              <a:t>Query</a:t>
            </a:r>
            <a:r>
              <a:rPr lang="ja-JP" altLang="en-US"/>
              <a:t>がどの</a:t>
            </a:r>
            <a:r>
              <a:rPr lang="en-US" altLang="ja-JP" dirty="0"/>
              <a:t>Value</a:t>
            </a:r>
            <a:r>
              <a:rPr lang="ja-JP" altLang="en-US"/>
              <a:t>を強く選んでいるか？</a:t>
            </a:r>
            <a:br>
              <a:rPr lang="ja-JP" altLang="en-US"/>
            </a:br>
            <a:r>
              <a:rPr lang="ja-JP" altLang="en-US"/>
              <a:t>その理由を「文中の関係性」として言葉で説明してみましょう。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2553D03-C4A2-E33F-E862-ABB5A66AF733}"/>
              </a:ext>
            </a:extLst>
          </p:cNvPr>
          <p:cNvSpPr txBox="1"/>
          <p:nvPr/>
        </p:nvSpPr>
        <p:spPr>
          <a:xfrm>
            <a:off x="6525491" y="1825625"/>
            <a:ext cx="5257800" cy="4373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const model = new </a:t>
            </a:r>
            <a:r>
              <a:rPr kumimoji="1" lang="en-US" altLang="ja-JP" dirty="0" err="1"/>
              <a:t>SimpleAttention</a:t>
            </a:r>
            <a:r>
              <a:rPr kumimoji="1" lang="en-US" altLang="ja-JP" dirty="0"/>
              <a:t>();</a:t>
            </a:r>
          </a:p>
          <a:p>
            <a:r>
              <a:rPr kumimoji="1" lang="en-US" altLang="ja-JP" dirty="0"/>
              <a:t>const queries = [</a:t>
            </a:r>
          </a:p>
          <a:p>
            <a:r>
              <a:rPr kumimoji="1" lang="en-US" altLang="ja-JP" dirty="0"/>
              <a:t>    [1, 0], // </a:t>
            </a:r>
            <a:r>
              <a:rPr kumimoji="1" lang="ja-JP" altLang="en-US"/>
              <a:t>単語</a:t>
            </a:r>
            <a:r>
              <a:rPr kumimoji="1" lang="en-US" altLang="ja-JP" dirty="0"/>
              <a:t>A</a:t>
            </a:r>
            <a:r>
              <a:rPr kumimoji="1" lang="ja-JP" altLang="en-US"/>
              <a:t>からの視点</a:t>
            </a:r>
          </a:p>
          <a:p>
            <a:r>
              <a:rPr kumimoji="1" lang="ja-JP" altLang="en-US"/>
              <a:t>    </a:t>
            </a:r>
            <a:r>
              <a:rPr kumimoji="1" lang="en-US" altLang="ja-JP" dirty="0"/>
              <a:t>[0, 1]  // </a:t>
            </a:r>
            <a:r>
              <a:rPr kumimoji="1" lang="ja-JP" altLang="en-US"/>
              <a:t>単語</a:t>
            </a:r>
            <a:r>
              <a:rPr kumimoji="1" lang="en-US" altLang="ja-JP" dirty="0"/>
              <a:t>B</a:t>
            </a:r>
            <a:r>
              <a:rPr kumimoji="1" lang="ja-JP" altLang="en-US"/>
              <a:t>からの視点</a:t>
            </a:r>
          </a:p>
          <a:p>
            <a:r>
              <a:rPr kumimoji="1" lang="en-US" altLang="ja-JP" dirty="0"/>
              <a:t>];</a:t>
            </a:r>
          </a:p>
          <a:p>
            <a:r>
              <a:rPr kumimoji="1" lang="en-US" altLang="ja-JP" dirty="0"/>
              <a:t>const keys = [[1,0], [0,1]];</a:t>
            </a:r>
          </a:p>
          <a:p>
            <a:r>
              <a:rPr kumimoji="1" lang="en-US" altLang="ja-JP" dirty="0"/>
              <a:t>const values = [10, 20];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for (const q of queries) {</a:t>
            </a:r>
          </a:p>
          <a:p>
            <a:r>
              <a:rPr kumimoji="1" lang="en-US" altLang="ja-JP" dirty="0"/>
              <a:t>    const result = </a:t>
            </a:r>
            <a:r>
              <a:rPr kumimoji="1" lang="en-US" altLang="ja-JP" dirty="0" err="1"/>
              <a:t>model.computeAttention</a:t>
            </a:r>
            <a:r>
              <a:rPr kumimoji="1" lang="en-US" altLang="ja-JP" dirty="0"/>
              <a:t>(q, keys, values);</a:t>
            </a:r>
          </a:p>
          <a:p>
            <a:r>
              <a:rPr kumimoji="1" lang="en-US" altLang="ja-JP" dirty="0"/>
              <a:t>    </a:t>
            </a:r>
            <a:r>
              <a:rPr kumimoji="1" lang="en-US" altLang="ja-JP" dirty="0" err="1"/>
              <a:t>console.log</a:t>
            </a:r>
            <a:r>
              <a:rPr kumimoji="1" lang="en-US" altLang="ja-JP" dirty="0"/>
              <a:t>('Query:', q, '→ Attention result:', result);</a:t>
            </a:r>
          </a:p>
          <a:p>
            <a:r>
              <a:rPr kumimoji="1" lang="en-US" altLang="ja-JP" dirty="0"/>
              <a:t>}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85274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3C932F-1ED7-75D6-FBFD-A7C6D040A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kumimoji="1" lang="ja-JP" altLang="en-US"/>
              <a:t>実習課題</a:t>
            </a:r>
          </a:p>
        </p:txBody>
      </p:sp>
    </p:spTree>
    <p:extLst>
      <p:ext uri="{BB962C8B-B14F-4D97-AF65-F5344CB8AC3E}">
        <p14:creationId xmlns:p14="http://schemas.microsoft.com/office/powerpoint/2010/main" val="4294727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A16460-5753-D188-FD44-46F6F4F6B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 dirty="0"/>
              <a:t>1: Temperature</a:t>
            </a:r>
            <a:r>
              <a:rPr lang="ja-JP" altLang="en-US"/>
              <a:t>実験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30ECA0F-AE2B-596C-202E-C7F57F86A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64284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 err="1"/>
              <a:t>config.js</a:t>
            </a:r>
            <a:r>
              <a:rPr lang="en-US" altLang="ja-JP" dirty="0"/>
              <a:t> </a:t>
            </a:r>
            <a:r>
              <a:rPr lang="ja-JP" altLang="en-US"/>
              <a:t>の</a:t>
            </a:r>
            <a:r>
              <a:rPr lang="en-US" altLang="ja-JP" dirty="0"/>
              <a:t>temperature</a:t>
            </a:r>
            <a:r>
              <a:rPr lang="ja-JP" altLang="en-US"/>
              <a:t>を変えて応答の違いを観察</a:t>
            </a:r>
            <a:endParaRPr lang="en-US" altLang="ja-JP" dirty="0"/>
          </a:p>
          <a:p>
            <a:pPr marL="0" indent="0">
              <a:buNone/>
            </a:pPr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4C3EADC-91F0-A75D-6F27-374999B12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552076"/>
            <a:ext cx="10664773" cy="2684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1391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BACC3A-40C1-5D32-78A9-30B199DC3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 dirty="0"/>
              <a:t>2: UI</a:t>
            </a:r>
            <a:r>
              <a:rPr lang="ja-JP" altLang="en-US"/>
              <a:t>カスタマイズ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E9981B1-D613-60B4-0E40-D8730A81B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61442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5A1001-859D-080B-9944-8452EEE18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0720537-8561-C3C6-F423-FA63A3F91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1869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9B93D0FD6C4F094F9F93517D4C735504" ma:contentTypeVersion="12" ma:contentTypeDescription="新しいドキュメントを作成します。" ma:contentTypeScope="" ma:versionID="9d1919d407e5848491635d37cd63f9ea">
  <xsd:schema xmlns:xsd="http://www.w3.org/2001/XMLSchema" xmlns:xs="http://www.w3.org/2001/XMLSchema" xmlns:p="http://schemas.microsoft.com/office/2006/metadata/properties" xmlns:ns2="0281a72a-abdb-4b96-8efc-4f0958390b15" xmlns:ns3="fe93796e-8116-42a3-8ecb-dbadbaf8c23f" targetNamespace="http://schemas.microsoft.com/office/2006/metadata/properties" ma:root="true" ma:fieldsID="f64faf8dd603a7f1cd7ce91e83abf8d9" ns2:_="" ns3:_="">
    <xsd:import namespace="0281a72a-abdb-4b96-8efc-4f0958390b15"/>
    <xsd:import namespace="fe93796e-8116-42a3-8ecb-dbadbaf8c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81a72a-abdb-4b96-8efc-4f0958390b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画像タグ" ma:readOnly="false" ma:fieldId="{5cf76f15-5ced-4ddc-b409-7134ff3c332f}" ma:taxonomyMulti="true" ma:sspId="c1ec0f05-8db9-4cb4-a53b-b8806002f24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93796e-8116-42a3-8ecb-dbadbaf8c23f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21dffc61-53bc-4442-9b0d-904e7c5ddab2}" ma:internalName="TaxCatchAll" ma:showField="CatchAllData" ma:web="fe93796e-8116-42a3-8ecb-dbadbaf8c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e93796e-8116-42a3-8ecb-dbadbaf8c23f" xsi:nil="true"/>
    <lcf76f155ced4ddcb4097134ff3c332f xmlns="0281a72a-abdb-4b96-8efc-4f0958390b1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9D56248-B588-47B6-98F5-47510233C39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FE765D-CA0B-4436-B919-30990117BD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81a72a-abdb-4b96-8efc-4f0958390b15"/>
    <ds:schemaRef ds:uri="fe93796e-8116-42a3-8ecb-dbadbaf8c23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4121FB4-53CD-4BEB-AC00-BC94B79D3910}">
  <ds:schemaRefs>
    <ds:schemaRef ds:uri="http://schemas.microsoft.com/office/2006/metadata/properties"/>
    <ds:schemaRef ds:uri="http://schemas.microsoft.com/office/infopath/2007/PartnerControls"/>
    <ds:schemaRef ds:uri="fe93796e-8116-42a3-8ecb-dbadbaf8c23f"/>
    <ds:schemaRef ds:uri="0281a72a-abdb-4b96-8efc-4f0958390b15"/>
  </ds:schemaRefs>
</ds:datastoreItem>
</file>

<file path=docMetadata/LabelInfo.xml><?xml version="1.0" encoding="utf-8"?>
<clbl:labelList xmlns:clbl="http://schemas.microsoft.com/office/2020/mipLabelMetadata">
  <clbl:label id="{72fe835d-5e95-4512-8ae0-a7b38af25fc8}" enabled="0" method="" siteId="{72fe835d-5e95-4512-8ae0-a7b38af25fc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3324</Words>
  <Application>Microsoft Office PowerPoint</Application>
  <PresentationFormat>ワイド画面</PresentationFormat>
  <Paragraphs>370</Paragraphs>
  <Slides>29</Slides>
  <Notes>1</Notes>
  <HiddenSlides>4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29</vt:i4>
      </vt:variant>
    </vt:vector>
  </HeadingPairs>
  <TitlesOfParts>
    <vt:vector size="30" baseType="lpstr">
      <vt:lpstr>Office テーマ</vt:lpstr>
      <vt:lpstr>大規模言語モデルの体験  第1回LLM原理と体験</vt:lpstr>
      <vt:lpstr>PowerPoint プレゼンテーション</vt:lpstr>
      <vt:lpstr>参考文献</vt:lpstr>
      <vt:lpstr>本日の目標</vt:lpstr>
      <vt:lpstr>手順書</vt:lpstr>
      <vt:lpstr>必要な環境</vt:lpstr>
      <vt:lpstr>キーワード</vt:lpstr>
      <vt:lpstr>ステップ1: プロジェクト確認</vt:lpstr>
      <vt:lpstr>ステップ2: 設定ファイル編集</vt:lpstr>
      <vt:lpstr>ステップ3: Live Server起動</vt:lpstr>
      <vt:lpstr>理解度チェックポイント</vt:lpstr>
      <vt:lpstr>よくあるエラーと対処法</vt:lpstr>
      <vt:lpstr>基本概念</vt:lpstr>
      <vt:lpstr>LLMとは何か</vt:lpstr>
      <vt:lpstr>Transformerとは？</vt:lpstr>
      <vt:lpstr>___________is all you need</vt:lpstr>
      <vt:lpstr>基本概念の体験</vt:lpstr>
      <vt:lpstr>課題A: 注意重みの計算を体験</vt:lpstr>
      <vt:lpstr>準備</vt:lpstr>
      <vt:lpstr>手順1：js/attention-demo.js を新規作成</vt:lpstr>
      <vt:lpstr>手順2：index.html に UI セクションとスクリプト読込を追加</vt:lpstr>
      <vt:lpstr>手順3：Live Serverで実行と検証</vt:lpstr>
      <vt:lpstr>観察・記録（レポート課題）</vt:lpstr>
      <vt:lpstr>課題B: Temperatureと創造性の関係を実験する</vt:lpstr>
      <vt:lpstr>課題C: Transformerの「注意の範囲」を可視化する</vt:lpstr>
      <vt:lpstr>実習課題</vt:lpstr>
      <vt:lpstr>課題1: Temperature実験</vt:lpstr>
      <vt:lpstr>課題2: UIカスタマイズ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森田 海_福井</dc:creator>
  <cp:lastModifiedBy>森田 海_福井</cp:lastModifiedBy>
  <cp:revision>3</cp:revision>
  <dcterms:created xsi:type="dcterms:W3CDTF">2025-10-06T02:16:54Z</dcterms:created>
  <dcterms:modified xsi:type="dcterms:W3CDTF">2025-10-06T04:49:30Z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0x0101009B93D0FD6C4F094F9F93517D4C735504</vt:lpwstr>
  </property>
  <property fmtid="{D5CDD505-2E9C-101B-9397-08002B2CF9AE}" pid="3" name="MediaServiceImageTags">
    <vt:lpwstr/>
  </property>
</Properties>
</file>